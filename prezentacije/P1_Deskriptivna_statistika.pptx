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Broj korisnika</c:v>
                </c:pt>
              </c:strCache>
            </c:strRef>
          </c:tx>
          <c:spPr>
            <a:solidFill>
              <a:srgbClr val="123C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32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0–0,5k</c:v>
                  </c:pt>
                  <c:pt idx="1">
                    <c:v>0,5–1k</c:v>
                  </c:pt>
                  <c:pt idx="2">
                    <c:v>1–1,5k</c:v>
                  </c:pt>
                  <c:pt idx="3">
                    <c:v>1,5–2k</c:v>
                  </c:pt>
                  <c:pt idx="4">
                    <c:v>2–2,5k</c:v>
                  </c:pt>
                  <c:pt idx="5">
                    <c:v>2,5–3k</c:v>
                  </c:pt>
                  <c:pt idx="6">
                    <c:v>3–3,5k</c:v>
                  </c:pt>
                  <c:pt idx="7">
                    <c:v>3,5–4k</c:v>
                  </c:pt>
                  <c:pt idx="8">
                    <c:v>4–4,5k</c:v>
                  </c:pt>
                  <c:pt idx="9">
                    <c:v>4,5–5k</c:v>
                  </c:pt>
                  <c:pt idx="10">
                    <c:v>5–5,5k</c:v>
                  </c:pt>
                  <c:pt idx="11">
                    <c:v>5,5–6k</c:v>
                  </c:pt>
                  <c:pt idx="12">
                    <c:v>6–6,5k</c:v>
                  </c:pt>
                  <c:pt idx="13">
                    <c:v>6,5–7k</c:v>
                  </c:pt>
                  <c:pt idx="14">
                    <c:v>7–7,5k</c:v>
                  </c:pt>
                  <c:pt idx="15">
                    <c:v>7,5–8k</c:v>
                  </c:pt>
                  <c:pt idx="16">
                    <c:v>8–8,5k</c:v>
                  </c:pt>
                  <c:pt idx="17">
                    <c:v>8,5–9k</c:v>
                  </c:pt>
                  <c:pt idx="18">
                    <c:v>9–9,5k</c:v>
                  </c:pt>
                  <c:pt idx="19">
                    <c:v>9,5–10k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8</c:v>
                </c:pt>
                <c:pt idx="1">
                  <c:v>107</c:v>
                </c:pt>
                <c:pt idx="2">
                  <c:v>230</c:v>
                </c:pt>
                <c:pt idx="3">
                  <c:v>164</c:v>
                </c:pt>
                <c:pt idx="4">
                  <c:v>119</c:v>
                </c:pt>
                <c:pt idx="5">
                  <c:v>125</c:v>
                </c:pt>
                <c:pt idx="6">
                  <c:v>140</c:v>
                </c:pt>
                <c:pt idx="7">
                  <c:v>90</c:v>
                </c:pt>
                <c:pt idx="8">
                  <c:v>57</c:v>
                </c:pt>
                <c:pt idx="9">
                  <c:v>35</c:v>
                </c:pt>
                <c:pt idx="10">
                  <c:v>16</c:v>
                </c:pt>
                <c:pt idx="11">
                  <c:v>26</c:v>
                </c:pt>
                <c:pt idx="12">
                  <c:v>27</c:v>
                </c:pt>
                <c:pt idx="13">
                  <c:v>22</c:v>
                </c:pt>
                <c:pt idx="14">
                  <c:v>18</c:v>
                </c:pt>
                <c:pt idx="15">
                  <c:v>4</c:v>
                </c:pt>
                <c:pt idx="16">
                  <c:v>8</c:v>
                </c:pt>
                <c:pt idx="17">
                  <c:v>2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323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32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AE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korisnika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7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Levo asimetrična</c:v>
                </c:pt>
              </c:strCache>
            </c:strRef>
          </c:tx>
          <c:spPr>
            <a:solidFill>
              <a:srgbClr val="7FA99B"/>
            </a:solidFill>
            <a:ln w="31750" cap="flat">
              <a:solidFill>
                <a:srgbClr val="7FA99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32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FA99B"/>
              </a:solidFill>
              <a:ln w="9525" cap="flat">
                <a:solidFill>
                  <a:srgbClr val="7FA99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14</c:v>
                </c:pt>
                <c:pt idx="5">
                  <c:v>22</c:v>
                </c:pt>
                <c:pt idx="6">
                  <c:v>30</c:v>
                </c:pt>
                <c:pt idx="7">
                  <c:v>24</c:v>
                </c:pt>
                <c:pt idx="8">
                  <c:v>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Simetrična</c:v>
                </c:pt>
              </c:strCache>
            </c:strRef>
          </c:tx>
          <c:spPr>
            <a:solidFill>
              <a:srgbClr val="123C3A"/>
            </a:solidFill>
            <a:ln w="31750" cap="flat">
              <a:solidFill>
                <a:srgbClr val="123C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32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23C3A"/>
              </a:solidFill>
              <a:ln w="9525" cap="flat">
                <a:solidFill>
                  <a:srgbClr val="123C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</c:v>
                </c:pt>
                <c:pt idx="1">
                  <c:v>6</c:v>
                </c:pt>
                <c:pt idx="2">
                  <c:v>14</c:v>
                </c:pt>
                <c:pt idx="3">
                  <c:v>24</c:v>
                </c:pt>
                <c:pt idx="4">
                  <c:v>30</c:v>
                </c:pt>
                <c:pt idx="5">
                  <c:v>24</c:v>
                </c:pt>
                <c:pt idx="6">
                  <c:v>14</c:v>
                </c:pt>
                <c:pt idx="7">
                  <c:v>6</c:v>
                </c:pt>
                <c:pt idx="8">
                  <c:v>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Desno asimetrična</c:v>
                </c:pt>
              </c:strCache>
            </c:strRef>
          </c:tx>
          <c:spPr>
            <a:solidFill>
              <a:srgbClr val="E8A33D"/>
            </a:solidFill>
            <a:ln w="3175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32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10</c:v>
                </c:pt>
                <c:pt idx="1">
                  <c:v>24</c:v>
                </c:pt>
                <c:pt idx="2">
                  <c:v>30</c:v>
                </c:pt>
                <c:pt idx="3">
                  <c:v>22</c:v>
                </c:pt>
                <c:pt idx="4">
                  <c:v>14</c:v>
                </c:pt>
                <c:pt idx="5">
                  <c:v>8</c:v>
                </c:pt>
                <c:pt idx="6">
                  <c:v>4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323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32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7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Prezentacija 1 od 3  |  pre Modula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9052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Deskriptivna statistika: mere centralne tendencije i disperzije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Kako jednim brojem opisati hiljadu korisnika, i kada taj broj laže.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058400" y="822960"/>
            <a:ext cx="1554480" cy="15544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Deskriptivna statistika · Praksa u Data &amp; AI timu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Zašto prvo merimo, pa tek onda analiziramo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Deskriptivna statistika sažima podatke; bez nje ne znamo ni šta pitamo.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Deskriptivna statistika · Praksa u Data &amp; AI timu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13232" cy="713232"/>
          </a:xfrm>
          <a:prstGeom prst="ellipse">
            <a:avLst/>
          </a:prstGeom>
          <a:solidFill>
            <a:srgbClr val="7FA99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911096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691640"/>
            <a:ext cx="10104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039112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Koliki je tipičan mesečni račun? Koliko korisnika ima reklamacije? Jedan broj umesto 1.200 vrsta.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713232" cy="713232"/>
          </a:xfrm>
          <a:prstGeom prst="ellipse">
            <a:avLst/>
          </a:prstGeom>
          <a:solidFill>
            <a:srgbClr val="7FA99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3008376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2788920"/>
            <a:ext cx="10104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Poređenje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508760" y="3136392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li prepaid korisnici troše manje GB od postpaid? Poređenje zahteva istu meru na obe grupe.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931920"/>
            <a:ext cx="713232" cy="713232"/>
          </a:xfrm>
          <a:prstGeom prst="ellipse">
            <a:avLst/>
          </a:prstGeom>
          <a:solidFill>
            <a:srgbClr val="7FA99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4105656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08760" y="3886200"/>
            <a:ext cx="10104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Otkrivanje grešaka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1508760" y="4233672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Sredina od 3.007 dinara i medijana od 2.382 se ne slažu — to je prvi signal da u podacima nešto nije u redu.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5029200"/>
            <a:ext cx="713232" cy="713232"/>
          </a:xfrm>
          <a:prstGeom prst="ellipse">
            <a:avLst/>
          </a:prstGeom>
          <a:solidFill>
            <a:srgbClr val="7FA99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5202936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4983480"/>
            <a:ext cx="10104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Osnova za sve dalje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1508760" y="5330952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Svaki test hipoteze, svaki model, počinje od sredine i varijanse. Pogrešna mera na ulazu = pogrešan zaključak na izlazu.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 podatka odlučuje koju meru smeš da koristiš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Deskriptivna statistika · Praksa u Data &amp; AI timu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91840"/>
                <a:gridCol w="3383280"/>
                <a:gridCol w="28346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Skala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Šta znači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Primer iz našeg dataseta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Dozvoljene mere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Kategorije bez redosleda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region, tip_paketa, kanal_prodaje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mod, frekvencije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Kategorije sa redosledom, bez jednakih razmaka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ocena_zadovoljstva (1–5)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mod, medijana, kvantili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Intervalna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Brojevi sa jednakim razmacima, bez prave nule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datum_aktivacije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sredina, std (ne količnici)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Brojevi sa pravom nulom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mesecni_racun_rsd, potrosnja_gb, staz_meseci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sve mere, uključujući geometrijsku i CV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93776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123C3A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493776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93776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Najčešća greška na praksi: prosek ocene zadovoljstva 3,62. Ocena je ordinalna — razmak između 1 i 2 nije isti kao između 4 i 5. Prijavi medijanu (4) i raspodelu ocena.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Aritmetička sredina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Zbir svih vrednosti podeljen brojem vrednosti. Najpoznatija mera, i najosetljivija.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Deskriptivna statistika · Praksa u Data &amp; AI timu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x̄ = (x₁ + x₂ + … + xₙ) / 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5394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Koristi celu informaciju iz svakog podatka — zato je efikasna kad je raspodela simetrična.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Svaka vrednost ima isti uticaj: jedan račun od 36.500 dinara (greška ×10) pomera sredinu 1.200 korisnika za 28 dinara.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pandas-u: df["mesecni_racun_rsd"].mean() preskače NaN; u numpy-u np.mean sa NaN vraća NaN — koristi np.nanmean.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 definisana za nominalne podatke i besmislena je za ordinalne.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0" y="178308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E4EEEA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Mesečni račun — isti podaci, dva trenutka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2468880"/>
            <a:ext cx="2148840" cy="9637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3.007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3432658"/>
            <a:ext cx="214884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RSD sredina, sirovi izvoz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 9 računa ×10 i tekstom)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098280" y="2468880"/>
            <a:ext cx="2148840" cy="9637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7FA9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2.737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9098280" y="3432658"/>
            <a:ext cx="214884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RSD sredina posle čišćenja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42062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Razlika: 270 dinara, 10% — samo zbog 9 pogrešno unetih vrednosti od 1.162. Medijana se u istom čišćenju nije pomerila.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Medijana i mod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Dve mere koje ne zanima koliko su ekstremne vrednosti ekstremne.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Deskriptivna statistika · Praksa u Data &amp; AI timu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15258" cy="3931920"/>
          </a:xfrm>
          <a:prstGeom prst="roundRect">
            <a:avLst>
              <a:gd name="adj" fmla="val 3121"/>
            </a:avLst>
          </a:prstGeom>
          <a:solidFill>
            <a:srgbClr val="E4EEEA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123C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130552"/>
            <a:ext cx="265176" cy="26517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265176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Medijana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063240"/>
            <a:ext cx="305805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Srednja vrednost sortiranog niza: polovina korisnika ima manji račun, polovina veći. Za paran n — prosek dva srednja člana.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Robusna: 9 računa ×10 je pomeraju za 0 dinara. Prirodna mera za asimetrične raspodele (prihodi, računi, staž).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izveštaju za menadžment: „tipičan korisnik plaća 2.382 dinara“.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38218" y="1783080"/>
            <a:ext cx="3515258" cy="3931920"/>
          </a:xfrm>
          <a:prstGeom prst="roundRect">
            <a:avLst>
              <a:gd name="adj" fmla="val 3121"/>
            </a:avLst>
          </a:prstGeom>
          <a:solidFill>
            <a:srgbClr val="E4EEEA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66818" y="2011680"/>
            <a:ext cx="502920" cy="502920"/>
          </a:xfrm>
          <a:prstGeom prst="ellipse">
            <a:avLst/>
          </a:prstGeom>
          <a:solidFill>
            <a:srgbClr val="123C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690" y="2130552"/>
            <a:ext cx="265176" cy="26517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66818" y="265176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66818" y="3063240"/>
            <a:ext cx="305805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Najčešća vrednost. Jedina mera za nominalne podatke: najčešći region je Beograd, najčešći paket Postpaid.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neprekidnih vrednosti nema smisla bez grupisanja — mod računa od 1.309 RSD je slučajnost, mod grupe 1.000–1.500 RSD je informacija.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Može ih biti više (bimodalna raspodela = dve populacije).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27797" y="1783080"/>
            <a:ext cx="3515258" cy="3931920"/>
          </a:xfrm>
          <a:prstGeom prst="roundRect">
            <a:avLst>
              <a:gd name="adj" fmla="val 3121"/>
            </a:avLst>
          </a:prstGeom>
          <a:solidFill>
            <a:srgbClr val="E4EEEA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56397" y="2011680"/>
            <a:ext cx="502920" cy="502920"/>
          </a:xfrm>
          <a:prstGeom prst="ellipse">
            <a:avLst/>
          </a:prstGeom>
          <a:solidFill>
            <a:srgbClr val="123C3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269" y="2130552"/>
            <a:ext cx="265176" cy="26517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56397" y="265176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Kada koju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8356397" y="3063240"/>
            <a:ext cx="305805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Simetrična raspodela: sredina ≈ medijana ≈ mod → prijavi sredinu.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Desno asimetrična (naš račun): mod &lt; medijana &lt; sredina → prijavi medijanu.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Nominalna: samo mod.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Ordinalna: medijana i mod.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Razlika sredina − medijana je sama po sebi dijagnostika.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Otežana, geometrijska i harmonijska sredina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Ređe se koriste, ali kad trebaju — aritmetička daje pogrešan odgovor.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Deskriptivna statistika · Praksa u Data &amp; AI timu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3017520"/>
                <a:gridCol w="42062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Kada je ispravna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Primer iz telekoma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Otežana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wᵢxᵢ / Σ wᵢ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Kada podaci nemaju istu važnost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Prosečan račun na nivou kompanije iz proseka po regionima — težina je broj korisnika u regionu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Geometrijska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(x₁ · x₂ · … · xₙ)^(1/n)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Stope rasta, odnosi, multiplikativni procesi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Prosečan mesečni rast broja korisnika: +10%, +20%, −5% → geometrijska, ne aritmetička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Harmonijska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/ Σ(1/xᵢ)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Proseci količnika (brzina, cena po jedinici)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Prosečna cena po GB kada su korisnici potrošili isti iznos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Trimovana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Sredina bez p% najmanjih i najvećih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Kompromis između sredine i medijane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trimovana sredina računa: 2.499 RSD (između 2.382 i 2.737)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5780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123C3A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25780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52578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Pravilo: geometrijska ≤ aritmetička, harmonijska ≤ geometrijska. Za račun: 1.873 &lt; 2.273 &lt; 2.737. Obe traže samo pozitivne vrednosti — proveri ulaz.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Sredina i medijana na istoj slici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Raspodela mesečnog računa posle čišćenja, 1.200 korisnika, korpe od 500 RSD.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Deskriptivna statistika · Praksa u Data &amp; AI timu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37360"/>
          <a:ext cx="74980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321040" y="1737360"/>
            <a:ext cx="3291840" cy="4389120"/>
          </a:xfrm>
          <a:prstGeom prst="roundRect">
            <a:avLst>
              <a:gd name="adj" fmla="val 3333"/>
            </a:avLst>
          </a:prstGeom>
          <a:solidFill>
            <a:srgbClr val="E4EEEA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49640" y="1920240"/>
            <a:ext cx="2880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Medijana 2.382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polovina korisnika je levo od ove crte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Sredina 2.737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 desni rep (biznis korisnici do 9.675 RSD) vuče je nagore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≈ 1–1,5k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najbrojnija korpa — prepaid paketi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&lt; medijana &lt; sredina: udžbenički potpis desne asimetrije. Asimetrija = 1,17.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Mere disperzije: koliko su podaci raštrkani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Sredina bez disperzije je pola informacije. Dva regiona sa istim prosečnim računom mogu imati potpuno različite korisnike.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Deskriptivna statistika · Praksa u Data &amp; AI timu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651760"/>
                <a:gridCol w="2194560"/>
                <a:gridCol w="4114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Vrednost za račun (RSD)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Kako je čitati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−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Osetljiv na jednu vrednost; koristan samo za brzu proveru opsega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Varijansa uzorka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s² = Σ(xᵢ − x̄)² / (n − 1)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2.870.683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 kvadratnim jedinicama — teško za tumačenje, ali osnova za sve testove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Standardna devijacija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= √s²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Tipično odstupanje od sredine, u istim jedinicama kao podaci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Interkvartilni raspon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IQR = Q3 − Q1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Širina srednjih 50% — robusna, ide uz medijanu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Koeficijent varijacije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= s / x̄ · 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Bez jedinice: poredi raštrkanost računa (62%) i broja SMS (16%)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9496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123C3A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39496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539496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ddof=1 (n−1) je ispravka za uzorak. pandas .var() i .std() podrazumevano koriste n−1; numpy np.var i np.std koriste n. Ova razlika je pitanje na kontrolnoj tački.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Kvantili i anatomija boxplota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Deskriptivna statistika · Praksa u Data &amp; AI timu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66190" y="3657600"/>
            <a:ext cx="716487" cy="0"/>
          </a:xfrm>
          <a:prstGeom prst="line">
            <a:avLst/>
          </a:prstGeom>
          <a:noFill/>
          <a:ln w="19050">
            <a:solidFill>
              <a:srgbClr val="123C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71943" y="3657600"/>
            <a:ext cx="2233897" cy="0"/>
          </a:xfrm>
          <a:prstGeom prst="line">
            <a:avLst/>
          </a:prstGeom>
          <a:noFill/>
          <a:ln w="19050">
            <a:solidFill>
              <a:srgbClr val="123C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82678" y="3246120"/>
            <a:ext cx="1489265" cy="822960"/>
          </a:xfrm>
          <a:prstGeom prst="rect">
            <a:avLst/>
          </a:prstGeom>
          <a:solidFill>
            <a:srgbClr val="E4EEEA"/>
          </a:solidFill>
          <a:ln w="19050">
            <a:solidFill>
              <a:srgbClr val="123C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78317" y="3246120"/>
            <a:ext cx="0" cy="822960"/>
          </a:xfrm>
          <a:prstGeom prst="line">
            <a:avLst/>
          </a:prstGeom>
          <a:noFill/>
          <a:ln w="38100">
            <a:solidFill>
              <a:srgbClr val="B850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6190" y="3429000"/>
            <a:ext cx="0" cy="457200"/>
          </a:xfrm>
          <a:prstGeom prst="line">
            <a:avLst/>
          </a:prstGeom>
          <a:noFill/>
          <a:ln w="19050">
            <a:solidFill>
              <a:srgbClr val="123C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05840" y="3429000"/>
            <a:ext cx="0" cy="457200"/>
          </a:xfrm>
          <a:prstGeom prst="line">
            <a:avLst/>
          </a:prstGeom>
          <a:noFill/>
          <a:ln w="19050">
            <a:solidFill>
              <a:srgbClr val="123C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71693" y="3602736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58154" y="3602736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44614" y="3602736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1679" y="3602736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3230" y="2834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350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59718" y="2834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1.381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655357" y="4160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medijana 2.382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448983" y="2834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3.524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682880" y="2834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+ 1,5·IQR = 6.739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837530" y="4160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outlieri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572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10.000 RSD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2286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Mesečni račun, 1.200 korisnika posle čišćenja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1737360"/>
            <a:ext cx="32918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Kvantil p: vrednost ispod koje je p% podataka. Kvartili dele na četvrtine (Q1 = 25., Q2 = medijana, Q3 = 75. percentil).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Kutija = srednjih 50% korisnika. Brkovi idu do poslednje vrednosti unutar 1,5 × IQR od kutije.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Tačke iza brkova su statistički outlieri: moguće vrednosti (biznis paketi), ne nužno greške. Greške smo uklonili ranije.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= 6.454 RSD: 5% korisnika plaća više. Za kapacitet i rizik pitaj za P95 i P99, ne za sredinu.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Oblik raspodele: asimetrija i spljoštenost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Deskriptivna statistika · Praksa u Data &amp; AI timu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0350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600200"/>
          <a:ext cx="47548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21031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Kolona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Asimetrija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Tumačenje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godine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simetrična; sredina i medijana se poklapaju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ocena_zadovoljstva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blago levo; više visokih ocena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mesecni_racun_rsd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desno; koristi medijanu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staz_meseci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desno; mnogo novih korisnika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potrosnja_gb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izrazito desno; nekoliko velikih potrošača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9834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Asimetrija (skewness) &gt; 0: rep udesno, sredina &gt; medijana. &lt; 0: obrnuto. |skew| &gt; 1 je izražena asimetrija.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Spljoštenost (kurtosis, višak): &gt; 0 teži repovi i šiljatiji vrh od normalne; &lt; 0 spljošteniji. potrosnja_gb: 10,2 — ekstremni repovi.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Asimetrija od 15 na sirovim podacima nije oblik populacije, nego pet pogrešnih unosa. Oblik je i dijagnostika kvaliteta.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Koju meru prijaviti — tabela odluke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Deskriptivna statistika · Praksa u Data &amp; AI timu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743200"/>
                <a:gridCol w="2377440"/>
                <a:gridCol w="246888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Situacija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Centralna tendencija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Disperzija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Grafikon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Numerička, simetrična, bez outliera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aritmetička sredina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standardna devijacija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Numerička, asimetrična ili sa outlierima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medijana (+ sredina uz napomenu)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IQR, kvantili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 + boxplot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Ordinalna (ocena 1–5)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medijana, mod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raspon, IQR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chart frekvencija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Nominalna (region, paket)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udeo kategorija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chart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Stope rasta, odnosi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geometrijska sredina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linijski grafikon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Poređenje raštrkanosti različitih jedinica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koeficijent varijacije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8640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123C3A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548640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548640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Uvek prijavi n. Stopa churn-a od 33% u kanalu „Nepoznato“ zvuči kao nalaz — dok ne vidiš da je to 4 od 12 korisnika.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Ista analiza, pre i posle čišćenja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Referentne vrednosti — na kraju Modula 2 tvoja tabela treba da izgleda ovako.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Deskriptivna statistika · Praksa u Data &amp; AI timu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463040"/>
                <a:gridCol w="1463040"/>
                <a:gridCol w="1463040"/>
                <a:gridCol w="1463040"/>
                <a:gridCol w="1371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Kolona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Sredina pre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Sredina posle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Medijana pre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Medijana posle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pre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posle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godine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mesecni_racun_rsd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3.006,55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2.737,24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2.381,5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2.381,5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3.865,28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1.694,31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potrosnja_gb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minuti_poziva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279,22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257,09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258,5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259,0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431,45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126,25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broj_reklamacija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754880"/>
            <a:ext cx="3515258" cy="1417320"/>
          </a:xfrm>
          <a:prstGeom prst="roundRect">
            <a:avLst>
              <a:gd name="adj" fmla="val 7742"/>
            </a:avLst>
          </a:prstGeom>
          <a:solidFill>
            <a:srgbClr val="E4EEEA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498348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Sredina se pomerila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3949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GB: sa 11,7 na 7,8 — pet vrednosti od 850–1.200 GB su udvostručile prosek. Minuti: četiri unosa od 7.500+.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38218" y="4754880"/>
            <a:ext cx="3515258" cy="1417320"/>
          </a:xfrm>
          <a:prstGeom prst="roundRect">
            <a:avLst>
              <a:gd name="adj" fmla="val 7742"/>
            </a:avLst>
          </a:prstGeom>
          <a:solidFill>
            <a:srgbClr val="E4EEEA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66818" y="498348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Medijana nije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66818" y="53949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Račun 2.381,5 → 2.381,5. Medijanu je briga za 9 pogrešnih vrednosti od 1.162. To je definicija robusnosti.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127797" y="4754880"/>
            <a:ext cx="3515258" cy="1417320"/>
          </a:xfrm>
          <a:prstGeom prst="roundRect">
            <a:avLst>
              <a:gd name="adj" fmla="val 7742"/>
            </a:avLst>
          </a:prstGeom>
          <a:solidFill>
            <a:srgbClr val="E4EEEA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6397" y="498348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se prepolovila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356397" y="53949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GB sa 60,9 na 6,2 — deset puta manja. Svaki test koji koristi varijansu bio bi besmislen pre čišćenja.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 nego što otvoriš Modul 1 — proveri 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Odgovori usmeno ili u notebooku. Rešenja proveravaš sa mentorom na prvoj kontrolnoj tački.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Deskriptivna statistika · Praksa u Data &amp; AI timu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10048" cy="1965960"/>
          </a:xfrm>
          <a:prstGeom prst="roundRect">
            <a:avLst>
              <a:gd name="adj" fmla="val 5581"/>
            </a:avLst>
          </a:prstGeom>
          <a:solidFill>
            <a:srgbClr val="E4EEEA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123C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130552"/>
            <a:ext cx="265176" cy="26517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2651760"/>
            <a:ext cx="495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063240"/>
            <a:ext cx="495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Niz računa: 900, 1.200, 1.300, 1.300, 2.100, 36.500. Izračunaj sredinu, medijanu i mod. Koju prijavljuješ i zašto?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33008" y="1783080"/>
            <a:ext cx="5410048" cy="1965960"/>
          </a:xfrm>
          <a:prstGeom prst="roundRect">
            <a:avLst>
              <a:gd name="adj" fmla="val 5581"/>
            </a:avLst>
          </a:prstGeom>
          <a:solidFill>
            <a:srgbClr val="E4EEEA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61608" y="2011680"/>
            <a:ext cx="502920" cy="502920"/>
          </a:xfrm>
          <a:prstGeom prst="ellipse">
            <a:avLst/>
          </a:prstGeom>
          <a:solidFill>
            <a:srgbClr val="123C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480" y="2130552"/>
            <a:ext cx="265176" cy="26517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461608" y="2651760"/>
            <a:ext cx="495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461608" y="3063240"/>
            <a:ext cx="495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Broj SMS ima CV 16%, broj reklamacija CV 137%. Šta to govori o predvidljivosti ta dva ponašanja?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4023360"/>
            <a:ext cx="5410048" cy="1965960"/>
          </a:xfrm>
          <a:prstGeom prst="roundRect">
            <a:avLst>
              <a:gd name="adj" fmla="val 5581"/>
            </a:avLst>
          </a:prstGeom>
          <a:solidFill>
            <a:srgbClr val="E4EEEA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4251960"/>
            <a:ext cx="502920" cy="502920"/>
          </a:xfrm>
          <a:prstGeom prst="ellipse">
            <a:avLst/>
          </a:prstGeom>
          <a:solidFill>
            <a:srgbClr val="123C3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370832"/>
            <a:ext cx="265176" cy="26517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77240" y="4892040"/>
            <a:ext cx="495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5303520"/>
            <a:ext cx="495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ima 17 različitih vrednosti u sirovim podacima. Koja je mera centralne tendencije uopšte dozvoljena, i da li je pouzdana pre čišćenja?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233008" y="4023360"/>
            <a:ext cx="5410048" cy="1965960"/>
          </a:xfrm>
          <a:prstGeom prst="roundRect">
            <a:avLst>
              <a:gd name="adj" fmla="val 5581"/>
            </a:avLst>
          </a:prstGeom>
          <a:solidFill>
            <a:srgbClr val="E4EEEA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61608" y="4251960"/>
            <a:ext cx="502920" cy="502920"/>
          </a:xfrm>
          <a:prstGeom prst="ellipse">
            <a:avLst/>
          </a:prstGeom>
          <a:solidFill>
            <a:srgbClr val="123C3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480" y="4370832"/>
            <a:ext cx="265176" cy="26517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461608" y="4892040"/>
            <a:ext cx="495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6461608" y="5303520"/>
            <a:ext cx="495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Mesečni rast korisnika: +10%, +20%, −5%. Prosečan rast aritmetički je 8,3%. Izračunaj geometrijski. Koji je tačan?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3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Sledeći korak: Modul 1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9601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DC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Otvori telekom_korisnici.xlsx i moduli/modul1.html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DC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Zadaci 1.1–1.5: profilisanje, mere ručno i sa pandas-om, lista sumnjivih stvari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DC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popravljaj ništa — samo meri i popisuj. Čišćenje je Modul 2.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DC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Kontrolna tačka 1 sa mentorom trećeg dana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241280" y="4937760"/>
            <a:ext cx="1280160" cy="1280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Deskriptivna statistika · Praksa u Data &amp; AI timu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P1 — Deskriptivna statistika</dc:title>
  <dc:subject>PptxGenJS Presentation</dc:subject>
  <dc:creator>Data &amp; AI tim</dc:creator>
  <cp:lastModifiedBy>Data &amp; AI tim</cp:lastModifiedBy>
  <cp:revision>1</cp:revision>
  <dcterms:created xsi:type="dcterms:W3CDTF">2026-09-09T08:53:33Z</dcterms:created>
  <dcterms:modified xsi:type="dcterms:W3CDTF">2026-09-09T08:53:33Z</dcterms:modified>
</cp:coreProperties>
</file>
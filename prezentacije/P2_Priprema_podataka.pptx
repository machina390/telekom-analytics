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</p:sldIdLst>
  <p:notesMasterIdLst>
    <p:notesMasterId r:id="rId16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notesMaster" Target="notesMasters/notesMaster1.xml"/><Relationship Id="rId17" Type="http://schemas.openxmlformats.org/officeDocument/2006/relationships/presProps" Target="presProps.xml"/><Relationship Id="rId18" Type="http://schemas.openxmlformats.org/officeDocument/2006/relationships/viewProps" Target="viewProps.xml"/><Relationship Id="rId19" Type="http://schemas.openxmlformats.org/officeDocument/2006/relationships/theme" Target="theme/theme1.xml"/><Relationship Id="rId20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image" Target="../media/image-4-2.png"/><Relationship Id="rId3" Type="http://schemas.openxmlformats.org/officeDocument/2006/relationships/image" Target="../media/image-4-3.png"/><Relationship Id="rId4" Type="http://schemas.openxmlformats.org/officeDocument/2006/relationships/image" Target="../media/image-4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image" Target="../media/image-6-2.png"/><Relationship Id="rId3" Type="http://schemas.openxmlformats.org/officeDocument/2006/relationships/image" Target="../media/image-6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image" Target="../media/image-8-2.png"/><Relationship Id="rId3" Type="http://schemas.openxmlformats.org/officeDocument/2006/relationships/image" Target="../media/image-8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3-1.png"/><Relationship Id="rId2" Type="http://schemas.openxmlformats.org/officeDocument/2006/relationships/image" Target="../media/image-13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23C3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128016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A9D3C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Prezentacija 2 od 3  |  pre Modula 2</a:t>
            </a:r>
            <a:endParaRPr lang="en-US" sz="13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1828800"/>
            <a:ext cx="9052560" cy="2194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4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Priprema podataka: od CRM izvoza do skupa kojem se veruje</a:t>
            </a:r>
            <a:endParaRPr lang="en-US" sz="44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4023360"/>
            <a:ext cx="86868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000" dirty="0">
                <a:solidFill>
                  <a:srgbClr val="CFE3D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Osam klasa grešaka, osam koraka, jedan dnevnik. Čišćenje je niz odluka, ne niz komandi.</a:t>
            </a:r>
            <a:endParaRPr lang="en-US" sz="2000" dirty="0"/>
          </a:p>
        </p:txBody>
      </p:sp>
      <p:sp>
        <p:nvSpPr>
          <p:cNvPr id="5" name="Shape 3"/>
          <p:cNvSpPr/>
          <p:nvPr/>
        </p:nvSpPr>
        <p:spPr>
          <a:xfrm>
            <a:off x="10058400" y="822960"/>
            <a:ext cx="1554480" cy="1554480"/>
          </a:xfrm>
          <a:prstGeom prst="ellipse">
            <a:avLst/>
          </a:prstGeom>
          <a:solidFill>
            <a:srgbClr val="E8A33D"/>
          </a:solidFill>
          <a:ln/>
        </p:spPr>
      </p:sp>
      <p:sp>
        <p:nvSpPr>
          <p:cNvPr id="6" name="Text 4"/>
          <p:cNvSpPr txBox="1"/>
          <p:nvPr/>
        </p:nvSpPr>
        <p:spPr>
          <a:xfrm>
            <a:off x="548640" y="6035040"/>
            <a:ext cx="10972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8FA9A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P2 · Priprema podataka · Praksa u Data &amp; AI timu</a:t>
            </a:r>
            <a:endParaRPr lang="en-US" sz="1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411480"/>
            <a:ext cx="11094415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200" b="1" dirty="0">
                <a:solidFill>
                  <a:srgbClr val="123C3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Koliko prljavštine ima u jednom običnom izvozu</a:t>
            </a:r>
            <a:endParaRPr lang="en-US" sz="3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1170432"/>
            <a:ext cx="11094415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rgbClr val="6B7C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Naš dataset: 1.232 vrste, 15 kolona. Ovo je tipičan CRM izvoz, ne ekstreman slučaj.</a:t>
            </a:r>
            <a:endParaRPr lang="en-US" sz="15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640080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B7C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P2 · Priprema podataka · Praksa u Data &amp; AI timu</a:t>
            </a:r>
            <a:endParaRPr lang="en-US" sz="1000" dirty="0"/>
          </a:p>
        </p:txBody>
      </p:sp>
      <p:sp>
        <p:nvSpPr>
          <p:cNvPr id="5" name="Text 3"/>
          <p:cNvSpPr txBox="1"/>
          <p:nvPr/>
        </p:nvSpPr>
        <p:spPr>
          <a:xfrm>
            <a:off x="548640" y="1737360"/>
            <a:ext cx="2590724" cy="102047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buNone/>
            </a:pPr>
            <a:r>
              <a:rPr lang="en-US" sz="5400" b="1" dirty="0">
                <a:solidFill>
                  <a:srgbClr val="123C3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712</a:t>
            </a:r>
            <a:endParaRPr lang="en-US" sz="5400" dirty="0"/>
          </a:p>
        </p:txBody>
      </p:sp>
      <p:sp>
        <p:nvSpPr>
          <p:cNvPr id="6" name="Text 4"/>
          <p:cNvSpPr txBox="1"/>
          <p:nvPr/>
        </p:nvSpPr>
        <p:spPr>
          <a:xfrm>
            <a:off x="548640" y="2757830"/>
            <a:ext cx="2590724" cy="6254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6B7C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ubačenih grešaka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6B7C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 1.232 vrste</a:t>
            </a:r>
            <a:endParaRPr lang="en-US" sz="1300" dirty="0"/>
          </a:p>
        </p:txBody>
      </p:sp>
      <p:sp>
        <p:nvSpPr>
          <p:cNvPr id="7" name="Text 5"/>
          <p:cNvSpPr txBox="1"/>
          <p:nvPr/>
        </p:nvSpPr>
        <p:spPr>
          <a:xfrm>
            <a:off x="3322244" y="1737360"/>
            <a:ext cx="2590724" cy="102047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buNone/>
            </a:pPr>
            <a:r>
              <a:rPr lang="en-US" sz="5400" b="1" dirty="0">
                <a:solidFill>
                  <a:srgbClr val="7FA99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8</a:t>
            </a:r>
            <a:endParaRPr lang="en-US" sz="5400" dirty="0"/>
          </a:p>
        </p:txBody>
      </p:sp>
      <p:sp>
        <p:nvSpPr>
          <p:cNvPr id="8" name="Text 6"/>
          <p:cNvSpPr txBox="1"/>
          <p:nvPr/>
        </p:nvSpPr>
        <p:spPr>
          <a:xfrm>
            <a:off x="3322244" y="2757830"/>
            <a:ext cx="2590724" cy="6254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6B7C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različitih klasa grešaka</a:t>
            </a:r>
            <a:endParaRPr lang="en-US" sz="1300" dirty="0"/>
          </a:p>
        </p:txBody>
      </p:sp>
      <p:sp>
        <p:nvSpPr>
          <p:cNvPr id="9" name="Text 7"/>
          <p:cNvSpPr txBox="1"/>
          <p:nvPr/>
        </p:nvSpPr>
        <p:spPr>
          <a:xfrm>
            <a:off x="6095848" y="1737360"/>
            <a:ext cx="2590724" cy="102047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buNone/>
            </a:pPr>
            <a:r>
              <a:rPr lang="en-US" sz="5400" b="1" dirty="0">
                <a:solidFill>
                  <a:srgbClr val="E8A3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32</a:t>
            </a:r>
            <a:endParaRPr lang="en-US" sz="5400" dirty="0"/>
          </a:p>
        </p:txBody>
      </p:sp>
      <p:sp>
        <p:nvSpPr>
          <p:cNvPr id="10" name="Text 8"/>
          <p:cNvSpPr txBox="1"/>
          <p:nvPr/>
        </p:nvSpPr>
        <p:spPr>
          <a:xfrm>
            <a:off x="6095848" y="2757830"/>
            <a:ext cx="2590724" cy="6254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6B7C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vrsta koje ne bi smele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6B7C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 postoje (duplikati)</a:t>
            </a:r>
            <a:endParaRPr lang="en-US" sz="1300" dirty="0"/>
          </a:p>
        </p:txBody>
      </p:sp>
      <p:sp>
        <p:nvSpPr>
          <p:cNvPr id="11" name="Text 9"/>
          <p:cNvSpPr txBox="1"/>
          <p:nvPr/>
        </p:nvSpPr>
        <p:spPr>
          <a:xfrm>
            <a:off x="8869451" y="1737360"/>
            <a:ext cx="2590724" cy="102047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buNone/>
            </a:pPr>
            <a:r>
              <a:rPr lang="en-US" sz="5400" b="1" dirty="0">
                <a:solidFill>
                  <a:srgbClr val="B8504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</a:t>
            </a:r>
            <a:endParaRPr lang="en-US" sz="5400" dirty="0"/>
          </a:p>
        </p:txBody>
      </p:sp>
      <p:sp>
        <p:nvSpPr>
          <p:cNvPr id="12" name="Text 10"/>
          <p:cNvSpPr txBox="1"/>
          <p:nvPr/>
        </p:nvSpPr>
        <p:spPr>
          <a:xfrm>
            <a:off x="8869451" y="2757830"/>
            <a:ext cx="2590724" cy="6254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6B7C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ispravnih vrednosti koje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6B7C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smeš da izgubiš</a:t>
            </a:r>
            <a:endParaRPr lang="en-US" sz="1300" dirty="0"/>
          </a:p>
        </p:txBody>
      </p:sp>
      <p:graphicFrame>
        <p:nvGraphicFramePr>
          <p:cNvPr id="3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3611880"/>
          <a:ext cx="11094415" cy="914400"/>
        </p:xfrm>
        <a:graphic>
          <a:graphicData uri="http://schemas.openxmlformats.org/drawingml/2006/table">
            <a:tbl>
              <a:tblPr/>
              <a:tblGrid>
                <a:gridCol w="2651760"/>
                <a:gridCol w="3657600"/>
                <a:gridCol w="1645920"/>
                <a:gridCol w="3108960"/>
              </a:tblGrid>
              <a:tr h="32918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Klasa greške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50800" marB="50800" anchor="ctr">
                    <a:lnL w="6350" cap="flat" cmpd="sng" algn="ctr">
                      <a:solidFill>
                        <a:srgbClr val="D5D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23C3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Kolone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50800" marB="50800" anchor="ctr">
                    <a:lnL w="6350" cap="flat" cmpd="sng" algn="ctr">
                      <a:solidFill>
                        <a:srgbClr val="D5D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23C3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Slučajeva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50800" marB="50800" anchor="ctr">
                    <a:lnL w="6350" cap="flat" cmpd="sng" algn="ctr">
                      <a:solidFill>
                        <a:srgbClr val="D5D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23C3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Kako se otkriva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50800" marB="50800" anchor="ctr">
                    <a:lnL w="6350" cap="flat" cmpd="sng" algn="ctr">
                      <a:solidFill>
                        <a:srgbClr val="D5D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23C3A"/>
                    </a:solidFill>
                  </a:tcPr>
                </a:tc>
              </a:tr>
              <a:tr h="32918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B232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Nedostajuće vrednosti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50800" marB="50800" anchor="ctr">
                    <a:lnL w="6350" cap="flat" cmpd="sng" algn="ctr">
                      <a:solidFill>
                        <a:srgbClr val="D5D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B232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godine, račun, GB, ocena, region, kanal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50800" marB="50800" anchor="ctr">
                    <a:lnL w="6350" cap="flat" cmpd="sng" algn="ctr">
                      <a:solidFill>
                        <a:srgbClr val="D5D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B232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252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50800" marB="50800" anchor="ctr">
                    <a:lnL w="6350" cap="flat" cmpd="sng" algn="ctr">
                      <a:solidFill>
                        <a:srgbClr val="D5D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B232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df.isna().sum()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50800" marB="50800" anchor="ctr">
                    <a:lnL w="6350" cap="flat" cmpd="sng" algn="ctr">
                      <a:solidFill>
                        <a:srgbClr val="D5D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2918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B232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Mešani formati datuma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50800" marB="50800" anchor="ctr">
                    <a:lnL w="6350" cap="flat" cmpd="sng" algn="ctr">
                      <a:solidFill>
                        <a:srgbClr val="D5D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3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B232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datum_aktivacije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50800" marB="50800" anchor="ctr">
                    <a:lnL w="6350" cap="flat" cmpd="sng" algn="ctr">
                      <a:solidFill>
                        <a:srgbClr val="D5D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3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B232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170 + 6 u budućnosti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50800" marB="50800" anchor="ctr">
                    <a:lnL w="6350" cap="flat" cmpd="sng" algn="ctr">
                      <a:solidFill>
                        <a:srgbClr val="D5D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3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B232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to_datetime sa eksplicitnim format=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50800" marB="50800" anchor="ctr">
                    <a:lnL w="6350" cap="flat" cmpd="sng" algn="ctr">
                      <a:solidFill>
                        <a:srgbClr val="D5D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3"/>
                    </a:solidFill>
                  </a:tcPr>
                </a:tc>
              </a:tr>
              <a:tr h="32918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B232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Nekonzistentne kategorije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50800" marB="50800" anchor="ctr">
                    <a:lnL w="6350" cap="flat" cmpd="sng" algn="ctr">
                      <a:solidFill>
                        <a:srgbClr val="D5D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B232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region, pol, tip_paketa, kanal, churn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50800" marB="50800" anchor="ctr">
                    <a:lnL w="6350" cap="flat" cmpd="sng" algn="ctr">
                      <a:solidFill>
                        <a:srgbClr val="D5D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B232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166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50800" marB="50800" anchor="ctr">
                    <a:lnL w="6350" cap="flat" cmpd="sng" algn="ctr">
                      <a:solidFill>
                        <a:srgbClr val="D5D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B232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value_counts() — više vrednosti nego u rečniku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50800" marB="50800" anchor="ctr">
                    <a:lnL w="6350" cap="flat" cmpd="sng" algn="ctr">
                      <a:solidFill>
                        <a:srgbClr val="D5D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2918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B232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Brojevi upisani kao tekst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50800" marB="50800" anchor="ctr">
                    <a:lnL w="6350" cap="flat" cmpd="sng" algn="ctr">
                      <a:solidFill>
                        <a:srgbClr val="D5D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3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B232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mesecni_racun_rsd, potrosnja_gb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50800" marB="50800" anchor="ctr">
                    <a:lnL w="6350" cap="flat" cmpd="sng" algn="ctr">
                      <a:solidFill>
                        <a:srgbClr val="D5D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3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B232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52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50800" marB="50800" anchor="ctr">
                    <a:lnL w="6350" cap="flat" cmpd="sng" algn="ctr">
                      <a:solidFill>
                        <a:srgbClr val="D5D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3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B232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dtype object umesto float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50800" marB="50800" anchor="ctr">
                    <a:lnL w="6350" cap="flat" cmpd="sng" algn="ctr">
                      <a:solidFill>
                        <a:srgbClr val="D5D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3"/>
                    </a:solidFill>
                  </a:tcPr>
                </a:tc>
              </a:tr>
              <a:tr h="32918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B232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Duplikati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50800" marB="50800" anchor="ctr">
                    <a:lnL w="6350" cap="flat" cmpd="sng" algn="ctr">
                      <a:solidFill>
                        <a:srgbClr val="D5D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B232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cele vrste (22 potpuna + 10 skoro)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50800" marB="50800" anchor="ctr">
                    <a:lnL w="6350" cap="flat" cmpd="sng" algn="ctr">
                      <a:solidFill>
                        <a:srgbClr val="D5D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B232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32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50800" marB="50800" anchor="ctr">
                    <a:lnL w="6350" cap="flat" cmpd="sng" algn="ctr">
                      <a:solidFill>
                        <a:srgbClr val="D5D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B232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duplicated(), duplicated(subset=id)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50800" marB="50800" anchor="ctr">
                    <a:lnL w="6350" cap="flat" cmpd="sng" algn="ctr">
                      <a:solidFill>
                        <a:srgbClr val="D5D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2918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B232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Ekstremne vrednosti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50800" marB="50800" anchor="ctr">
                    <a:lnL w="6350" cap="flat" cmpd="sng" algn="ctr">
                      <a:solidFill>
                        <a:srgbClr val="D5D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3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B232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godine, račun, GB, minuti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50800" marB="50800" anchor="ctr">
                    <a:lnL w="6350" cap="flat" cmpd="sng" algn="ctr">
                      <a:solidFill>
                        <a:srgbClr val="D5D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3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B232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22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50800" marB="50800" anchor="ctr">
                    <a:lnL w="6350" cap="flat" cmpd="sng" algn="ctr">
                      <a:solidFill>
                        <a:srgbClr val="D5D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3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B232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opsezi iz rečnika, asimetrija &gt; 3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50800" marB="50800" anchor="ctr">
                    <a:lnL w="6350" cap="flat" cmpd="sng" algn="ctr">
                      <a:solidFill>
                        <a:srgbClr val="D5D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3"/>
                    </a:solidFill>
                  </a:tcPr>
                </a:tc>
              </a:tr>
              <a:tr h="32918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B232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Negativne vrednosti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50800" marB="50800" anchor="ctr">
                    <a:lnL w="6350" cap="flat" cmpd="sng" algn="ctr">
                      <a:solidFill>
                        <a:srgbClr val="D5D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B232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godine, staž, minuti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50800" marB="50800" anchor="ctr">
                    <a:lnL w="6350" cap="flat" cmpd="sng" algn="ctr">
                      <a:solidFill>
                        <a:srgbClr val="D5D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B232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12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50800" marB="50800" anchor="ctr">
                    <a:lnL w="6350" cap="flat" cmpd="sng" algn="ctr">
                      <a:solidFill>
                        <a:srgbClr val="D5D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B232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min() &lt; 0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50800" marB="50800" anchor="ctr">
                    <a:lnL w="6350" cap="flat" cmpd="sng" algn="ctr">
                      <a:solidFill>
                        <a:srgbClr val="D5D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411480"/>
            <a:ext cx="11094415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200" b="1" dirty="0">
                <a:solidFill>
                  <a:srgbClr val="123C3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Redosled koraka nije proizvoljan</a:t>
            </a:r>
            <a:endParaRPr lang="en-US" sz="3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1170432"/>
            <a:ext cx="11094415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rgbClr val="6B7C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Svaki korak pretpostavlja prethodni. Duplikati pre standardizacije = 10 propuštenih duplikata.</a:t>
            </a:r>
            <a:endParaRPr lang="en-US" sz="15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640080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B7C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P2 · Priprema podataka · Praksa u Data &amp; AI timu</a:t>
            </a:r>
            <a:endParaRPr lang="en-US" sz="1000" dirty="0"/>
          </a:p>
        </p:txBody>
      </p:sp>
      <p:sp>
        <p:nvSpPr>
          <p:cNvPr id="5" name="Shape 3"/>
          <p:cNvSpPr/>
          <p:nvPr/>
        </p:nvSpPr>
        <p:spPr>
          <a:xfrm>
            <a:off x="548640" y="1828800"/>
            <a:ext cx="1242784" cy="2651760"/>
          </a:xfrm>
          <a:prstGeom prst="roundRect">
            <a:avLst>
              <a:gd name="adj" fmla="val 7358"/>
            </a:avLst>
          </a:prstGeom>
          <a:solidFill>
            <a:srgbClr val="EEF4F1"/>
          </a:solidFill>
          <a:ln w="12700">
            <a:solidFill>
              <a:srgbClr val="D5DEDB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713232" y="1965960"/>
            <a:ext cx="548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7FA99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2600" dirty="0"/>
          </a:p>
        </p:txBody>
      </p:sp>
      <p:sp>
        <p:nvSpPr>
          <p:cNvPr id="7" name="Text 5"/>
          <p:cNvSpPr txBox="1"/>
          <p:nvPr/>
        </p:nvSpPr>
        <p:spPr>
          <a:xfrm>
            <a:off x="676656" y="2468880"/>
            <a:ext cx="98675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dirty="0">
                <a:solidFill>
                  <a:srgbClr val="123C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Profilisanje</a:t>
            </a:r>
            <a:endParaRPr lang="en-US" sz="1200" dirty="0"/>
          </a:p>
        </p:txBody>
      </p:sp>
      <p:sp>
        <p:nvSpPr>
          <p:cNvPr id="8" name="Text 6"/>
          <p:cNvSpPr txBox="1"/>
          <p:nvPr/>
        </p:nvSpPr>
        <p:spPr>
          <a:xfrm>
            <a:off x="713232" y="3017520"/>
            <a:ext cx="913600" cy="1325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1B23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Dimenzije, tipovi, NaN, jedinstvene vrednosti, opsezi. Ništa se ne menja.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1956016" y="1828800"/>
            <a:ext cx="1242784" cy="2651760"/>
          </a:xfrm>
          <a:prstGeom prst="roundRect">
            <a:avLst>
              <a:gd name="adj" fmla="val 7358"/>
            </a:avLst>
          </a:prstGeom>
          <a:solidFill>
            <a:srgbClr val="E4EEEA"/>
          </a:solidFill>
          <a:ln w="12700">
            <a:solidFill>
              <a:srgbClr val="D5DEDB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2120608" y="1965960"/>
            <a:ext cx="548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7FA99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2600" dirty="0"/>
          </a:p>
        </p:txBody>
      </p:sp>
      <p:sp>
        <p:nvSpPr>
          <p:cNvPr id="11" name="Text 9"/>
          <p:cNvSpPr txBox="1"/>
          <p:nvPr/>
        </p:nvSpPr>
        <p:spPr>
          <a:xfrm>
            <a:off x="2084032" y="2468880"/>
            <a:ext cx="98675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dirty="0">
                <a:solidFill>
                  <a:srgbClr val="123C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Kategorije</a:t>
            </a:r>
            <a:endParaRPr lang="en-US" sz="1200" dirty="0"/>
          </a:p>
        </p:txBody>
      </p:sp>
      <p:sp>
        <p:nvSpPr>
          <p:cNvPr id="12" name="Text 10"/>
          <p:cNvSpPr txBox="1"/>
          <p:nvPr/>
        </p:nvSpPr>
        <p:spPr>
          <a:xfrm>
            <a:off x="2120608" y="3017520"/>
            <a:ext cx="913600" cy="1325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1B23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Standardizacija: trim, mala slova, eksplicitna mapa na kanonske vrednosti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3363392" y="1828800"/>
            <a:ext cx="1242784" cy="2651760"/>
          </a:xfrm>
          <a:prstGeom prst="roundRect">
            <a:avLst>
              <a:gd name="adj" fmla="val 7358"/>
            </a:avLst>
          </a:prstGeom>
          <a:solidFill>
            <a:srgbClr val="EEF4F1"/>
          </a:solidFill>
          <a:ln w="12700">
            <a:solidFill>
              <a:srgbClr val="D5DEDB"/>
            </a:solidFill>
            <a:prstDash val="solid"/>
          </a:ln>
        </p:spPr>
      </p:sp>
      <p:sp>
        <p:nvSpPr>
          <p:cNvPr id="14" name="Text 12"/>
          <p:cNvSpPr txBox="1"/>
          <p:nvPr/>
        </p:nvSpPr>
        <p:spPr>
          <a:xfrm>
            <a:off x="3527984" y="1965960"/>
            <a:ext cx="548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7FA99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2600" dirty="0"/>
          </a:p>
        </p:txBody>
      </p:sp>
      <p:sp>
        <p:nvSpPr>
          <p:cNvPr id="15" name="Text 13"/>
          <p:cNvSpPr txBox="1"/>
          <p:nvPr/>
        </p:nvSpPr>
        <p:spPr>
          <a:xfrm>
            <a:off x="3491408" y="2468880"/>
            <a:ext cx="98675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dirty="0">
                <a:solidFill>
                  <a:srgbClr val="123C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Duplikati</a:t>
            </a:r>
            <a:endParaRPr lang="en-US" sz="1200" dirty="0"/>
          </a:p>
        </p:txBody>
      </p:sp>
      <p:sp>
        <p:nvSpPr>
          <p:cNvPr id="16" name="Text 14"/>
          <p:cNvSpPr txBox="1"/>
          <p:nvPr/>
        </p:nvSpPr>
        <p:spPr>
          <a:xfrm>
            <a:off x="3527984" y="3017520"/>
            <a:ext cx="913600" cy="1325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1B23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Potpuni, pa po ključu. Tek sad su skoro-duplikati vidljivi.</a:t>
            </a:r>
            <a:endParaRPr lang="en-US" sz="1100" dirty="0"/>
          </a:p>
        </p:txBody>
      </p:sp>
      <p:sp>
        <p:nvSpPr>
          <p:cNvPr id="17" name="Shape 15"/>
          <p:cNvSpPr/>
          <p:nvPr/>
        </p:nvSpPr>
        <p:spPr>
          <a:xfrm>
            <a:off x="4770768" y="1828800"/>
            <a:ext cx="1242784" cy="2651760"/>
          </a:xfrm>
          <a:prstGeom prst="roundRect">
            <a:avLst>
              <a:gd name="adj" fmla="val 7358"/>
            </a:avLst>
          </a:prstGeom>
          <a:solidFill>
            <a:srgbClr val="E4EEEA"/>
          </a:solidFill>
          <a:ln w="12700">
            <a:solidFill>
              <a:srgbClr val="D5DEDB"/>
            </a:solidFill>
            <a:prstDash val="solid"/>
          </a:ln>
        </p:spPr>
      </p:sp>
      <p:sp>
        <p:nvSpPr>
          <p:cNvPr id="18" name="Text 16"/>
          <p:cNvSpPr txBox="1"/>
          <p:nvPr/>
        </p:nvSpPr>
        <p:spPr>
          <a:xfrm>
            <a:off x="4935360" y="1965960"/>
            <a:ext cx="548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7FA99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</a:t>
            </a:r>
            <a:endParaRPr lang="en-US" sz="2600" dirty="0"/>
          </a:p>
        </p:txBody>
      </p:sp>
      <p:sp>
        <p:nvSpPr>
          <p:cNvPr id="19" name="Text 17"/>
          <p:cNvSpPr txBox="1"/>
          <p:nvPr/>
        </p:nvSpPr>
        <p:spPr>
          <a:xfrm>
            <a:off x="4898784" y="2468880"/>
            <a:ext cx="98675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dirty="0">
                <a:solidFill>
                  <a:srgbClr val="123C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Tipovi i formati</a:t>
            </a:r>
            <a:endParaRPr lang="en-US" sz="1200" dirty="0"/>
          </a:p>
        </p:txBody>
      </p:sp>
      <p:sp>
        <p:nvSpPr>
          <p:cNvPr id="20" name="Text 18"/>
          <p:cNvSpPr txBox="1"/>
          <p:nvPr/>
        </p:nvSpPr>
        <p:spPr>
          <a:xfrm>
            <a:off x="4935360" y="3017520"/>
            <a:ext cx="913600" cy="1325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1B23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Tekst → broj, tri formata datuma → datetime</a:t>
            </a:r>
            <a:endParaRPr lang="en-US" sz="1100" dirty="0"/>
          </a:p>
        </p:txBody>
      </p:sp>
      <p:sp>
        <p:nvSpPr>
          <p:cNvPr id="21" name="Shape 19"/>
          <p:cNvSpPr/>
          <p:nvPr/>
        </p:nvSpPr>
        <p:spPr>
          <a:xfrm>
            <a:off x="6178144" y="1828800"/>
            <a:ext cx="1242784" cy="2651760"/>
          </a:xfrm>
          <a:prstGeom prst="roundRect">
            <a:avLst>
              <a:gd name="adj" fmla="val 7358"/>
            </a:avLst>
          </a:prstGeom>
          <a:solidFill>
            <a:srgbClr val="EEF4F1"/>
          </a:solidFill>
          <a:ln w="12700">
            <a:solidFill>
              <a:srgbClr val="D5DEDB"/>
            </a:solidFill>
            <a:prstDash val="solid"/>
          </a:ln>
        </p:spPr>
      </p:sp>
      <p:sp>
        <p:nvSpPr>
          <p:cNvPr id="22" name="Text 20"/>
          <p:cNvSpPr txBox="1"/>
          <p:nvPr/>
        </p:nvSpPr>
        <p:spPr>
          <a:xfrm>
            <a:off x="6342736" y="1965960"/>
            <a:ext cx="548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7FA99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5</a:t>
            </a:r>
            <a:endParaRPr lang="en-US" sz="2600" dirty="0"/>
          </a:p>
        </p:txBody>
      </p:sp>
      <p:sp>
        <p:nvSpPr>
          <p:cNvPr id="23" name="Text 21"/>
          <p:cNvSpPr txBox="1"/>
          <p:nvPr/>
        </p:nvSpPr>
        <p:spPr>
          <a:xfrm>
            <a:off x="6306160" y="2468880"/>
            <a:ext cx="98675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dirty="0">
                <a:solidFill>
                  <a:srgbClr val="123C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Logička pravila</a:t>
            </a:r>
            <a:endParaRPr lang="en-US" sz="1200" dirty="0"/>
          </a:p>
        </p:txBody>
      </p:sp>
      <p:sp>
        <p:nvSpPr>
          <p:cNvPr id="24" name="Text 22"/>
          <p:cNvSpPr txBox="1"/>
          <p:nvPr/>
        </p:nvSpPr>
        <p:spPr>
          <a:xfrm>
            <a:off x="6342736" y="3017520"/>
            <a:ext cx="913600" cy="1325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1B23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Nemoguće vrednosti → NaN. Očigledne greške unosa → korekcija.</a:t>
            </a:r>
            <a:endParaRPr lang="en-US" sz="1100" dirty="0"/>
          </a:p>
        </p:txBody>
      </p:sp>
      <p:sp>
        <p:nvSpPr>
          <p:cNvPr id="25" name="Shape 23"/>
          <p:cNvSpPr/>
          <p:nvPr/>
        </p:nvSpPr>
        <p:spPr>
          <a:xfrm>
            <a:off x="7585520" y="1828800"/>
            <a:ext cx="1242784" cy="2651760"/>
          </a:xfrm>
          <a:prstGeom prst="roundRect">
            <a:avLst>
              <a:gd name="adj" fmla="val 7358"/>
            </a:avLst>
          </a:prstGeom>
          <a:solidFill>
            <a:srgbClr val="E4EEEA"/>
          </a:solidFill>
          <a:ln w="12700">
            <a:solidFill>
              <a:srgbClr val="D5DEDB"/>
            </a:solidFill>
            <a:prstDash val="solid"/>
          </a:ln>
        </p:spPr>
      </p:sp>
      <p:sp>
        <p:nvSpPr>
          <p:cNvPr id="26" name="Text 24"/>
          <p:cNvSpPr txBox="1"/>
          <p:nvPr/>
        </p:nvSpPr>
        <p:spPr>
          <a:xfrm>
            <a:off x="7750112" y="1965960"/>
            <a:ext cx="548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7FA99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6</a:t>
            </a:r>
            <a:endParaRPr lang="en-US" sz="2600" dirty="0"/>
          </a:p>
        </p:txBody>
      </p:sp>
      <p:sp>
        <p:nvSpPr>
          <p:cNvPr id="27" name="Text 25"/>
          <p:cNvSpPr txBox="1"/>
          <p:nvPr/>
        </p:nvSpPr>
        <p:spPr>
          <a:xfrm>
            <a:off x="7713536" y="2468880"/>
            <a:ext cx="98675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dirty="0">
                <a:solidFill>
                  <a:srgbClr val="123C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Outlieri</a:t>
            </a:r>
            <a:endParaRPr lang="en-US" sz="1200" dirty="0"/>
          </a:p>
        </p:txBody>
      </p:sp>
      <p:sp>
        <p:nvSpPr>
          <p:cNvPr id="28" name="Text 26"/>
          <p:cNvSpPr txBox="1"/>
          <p:nvPr/>
        </p:nvSpPr>
        <p:spPr>
          <a:xfrm>
            <a:off x="7750112" y="3017520"/>
            <a:ext cx="913600" cy="1325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1B23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IQR / z-score. Označi, ne briši.</a:t>
            </a:r>
            <a:endParaRPr lang="en-US" sz="1100" dirty="0"/>
          </a:p>
        </p:txBody>
      </p:sp>
      <p:sp>
        <p:nvSpPr>
          <p:cNvPr id="29" name="Shape 27"/>
          <p:cNvSpPr/>
          <p:nvPr/>
        </p:nvSpPr>
        <p:spPr>
          <a:xfrm>
            <a:off x="8992895" y="1828800"/>
            <a:ext cx="1242784" cy="2651760"/>
          </a:xfrm>
          <a:prstGeom prst="roundRect">
            <a:avLst>
              <a:gd name="adj" fmla="val 7358"/>
            </a:avLst>
          </a:prstGeom>
          <a:solidFill>
            <a:srgbClr val="EEF4F1"/>
          </a:solidFill>
          <a:ln w="12700">
            <a:solidFill>
              <a:srgbClr val="D5DEDB"/>
            </a:solidFill>
            <a:prstDash val="solid"/>
          </a:ln>
        </p:spPr>
      </p:sp>
      <p:sp>
        <p:nvSpPr>
          <p:cNvPr id="30" name="Text 28"/>
          <p:cNvSpPr txBox="1"/>
          <p:nvPr/>
        </p:nvSpPr>
        <p:spPr>
          <a:xfrm>
            <a:off x="9157487" y="1965960"/>
            <a:ext cx="548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7FA99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7</a:t>
            </a:r>
            <a:endParaRPr lang="en-US" sz="2600" dirty="0"/>
          </a:p>
        </p:txBody>
      </p:sp>
      <p:sp>
        <p:nvSpPr>
          <p:cNvPr id="31" name="Text 29"/>
          <p:cNvSpPr txBox="1"/>
          <p:nvPr/>
        </p:nvSpPr>
        <p:spPr>
          <a:xfrm>
            <a:off x="9120911" y="2468880"/>
            <a:ext cx="98675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dirty="0">
                <a:solidFill>
                  <a:srgbClr val="123C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Imputacija</a:t>
            </a:r>
            <a:endParaRPr lang="en-US" sz="1200" dirty="0"/>
          </a:p>
        </p:txBody>
      </p:sp>
      <p:sp>
        <p:nvSpPr>
          <p:cNvPr id="32" name="Text 30"/>
          <p:cNvSpPr txBox="1"/>
          <p:nvPr/>
        </p:nvSpPr>
        <p:spPr>
          <a:xfrm>
            <a:off x="9157487" y="3017520"/>
            <a:ext cx="913600" cy="1325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1B23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 grupama, medijanom. Ili indikator. Ili ništa.</a:t>
            </a:r>
            <a:endParaRPr lang="en-US" sz="1100" dirty="0"/>
          </a:p>
        </p:txBody>
      </p:sp>
      <p:sp>
        <p:nvSpPr>
          <p:cNvPr id="33" name="Shape 31"/>
          <p:cNvSpPr/>
          <p:nvPr/>
        </p:nvSpPr>
        <p:spPr>
          <a:xfrm>
            <a:off x="10400271" y="1828800"/>
            <a:ext cx="1242784" cy="2651760"/>
          </a:xfrm>
          <a:prstGeom prst="roundRect">
            <a:avLst>
              <a:gd name="adj" fmla="val 7358"/>
            </a:avLst>
          </a:prstGeom>
          <a:solidFill>
            <a:srgbClr val="E4EEEA"/>
          </a:solidFill>
          <a:ln w="12700">
            <a:solidFill>
              <a:srgbClr val="D5DEDB"/>
            </a:solidFill>
            <a:prstDash val="solid"/>
          </a:ln>
        </p:spPr>
      </p:sp>
      <p:sp>
        <p:nvSpPr>
          <p:cNvPr id="34" name="Text 32"/>
          <p:cNvSpPr txBox="1"/>
          <p:nvPr/>
        </p:nvSpPr>
        <p:spPr>
          <a:xfrm>
            <a:off x="10564863" y="1965960"/>
            <a:ext cx="548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7FA99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8</a:t>
            </a:r>
            <a:endParaRPr lang="en-US" sz="2600" dirty="0"/>
          </a:p>
        </p:txBody>
      </p:sp>
      <p:sp>
        <p:nvSpPr>
          <p:cNvPr id="35" name="Text 33"/>
          <p:cNvSpPr txBox="1"/>
          <p:nvPr/>
        </p:nvSpPr>
        <p:spPr>
          <a:xfrm>
            <a:off x="10528287" y="2468880"/>
            <a:ext cx="98675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dirty="0">
                <a:solidFill>
                  <a:srgbClr val="123C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Izvedene kolone</a:t>
            </a:r>
            <a:endParaRPr lang="en-US" sz="1200" dirty="0"/>
          </a:p>
        </p:txBody>
      </p:sp>
      <p:sp>
        <p:nvSpPr>
          <p:cNvPr id="36" name="Text 34"/>
          <p:cNvSpPr txBox="1"/>
          <p:nvPr/>
        </p:nvSpPr>
        <p:spPr>
          <a:xfrm>
            <a:off x="10564863" y="3017520"/>
            <a:ext cx="913600" cy="1325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1B23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Tipovi, kategorije, grupe, flagovi. Sačuvaj + dnevnik.</a:t>
            </a:r>
            <a:endParaRPr lang="en-US" sz="1100" dirty="0"/>
          </a:p>
        </p:txBody>
      </p:sp>
      <p:sp>
        <p:nvSpPr>
          <p:cNvPr id="37" name="Shape 35"/>
          <p:cNvSpPr/>
          <p:nvPr/>
        </p:nvSpPr>
        <p:spPr>
          <a:xfrm>
            <a:off x="548640" y="4846320"/>
            <a:ext cx="11094415" cy="1005840"/>
          </a:xfrm>
          <a:prstGeom prst="roundRect">
            <a:avLst>
              <a:gd name="adj" fmla="val 9091"/>
            </a:avLst>
          </a:prstGeom>
          <a:solidFill>
            <a:srgbClr val="123C3A"/>
          </a:solidFill>
          <a:ln w="12700">
            <a:solidFill>
              <a:srgbClr val="FBF1DF"/>
            </a:solidFill>
            <a:prstDash val="solid"/>
          </a:ln>
        </p:spPr>
      </p:sp>
      <p:sp>
        <p:nvSpPr>
          <p:cNvPr id="38" name="Shape 36"/>
          <p:cNvSpPr/>
          <p:nvPr/>
        </p:nvSpPr>
        <p:spPr>
          <a:xfrm>
            <a:off x="548640" y="4846320"/>
            <a:ext cx="11094415" cy="1005840"/>
          </a:xfrm>
          <a:prstGeom prst="roundRect">
            <a:avLst>
              <a:gd name="adj" fmla="val 9091"/>
            </a:avLst>
          </a:prstGeom>
          <a:solidFill>
            <a:srgbClr val="FBF1DF"/>
          </a:solidFill>
          <a:ln w="12700">
            <a:solidFill>
              <a:srgbClr val="FBF1DF"/>
            </a:solidFill>
            <a:prstDash val="solid"/>
          </a:ln>
        </p:spPr>
      </p:sp>
      <p:sp>
        <p:nvSpPr>
          <p:cNvPr id="39" name="Text 37"/>
          <p:cNvSpPr txBox="1"/>
          <p:nvPr/>
        </p:nvSpPr>
        <p:spPr>
          <a:xfrm>
            <a:off x="822960" y="4846320"/>
            <a:ext cx="10545775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123C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Zašto imputacija tek na sedmom mestu: ako imputiraš medijanom pre nego što ukloniš vrednost od 999,9 GB, imputiraš pogrešnom medijanom — i onda uklanjaš outlier koji je već zagadio 36 drugih vrsta.</a:t>
            </a:r>
            <a:endParaRPr lang="en-US" sz="15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411480"/>
            <a:ext cx="11094415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200" b="1" dirty="0">
                <a:solidFill>
                  <a:srgbClr val="123C3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Profilisanje: šta gledaš pre nego što bilo šta dirneš</a:t>
            </a:r>
            <a:endParaRPr lang="en-US" sz="3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640080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B7C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P2 · Priprema podataka · Praksa u Data &amp; AI timu</a:t>
            </a:r>
            <a:endParaRPr lang="en-US" sz="1000" dirty="0"/>
          </a:p>
        </p:txBody>
      </p:sp>
      <p:sp>
        <p:nvSpPr>
          <p:cNvPr id="4" name="Shape 2"/>
          <p:cNvSpPr/>
          <p:nvPr/>
        </p:nvSpPr>
        <p:spPr>
          <a:xfrm>
            <a:off x="548640" y="1737360"/>
            <a:ext cx="713232" cy="713232"/>
          </a:xfrm>
          <a:prstGeom prst="ellipse">
            <a:avLst/>
          </a:prstGeom>
          <a:solidFill>
            <a:srgbClr val="7FA99B"/>
          </a:solidFill>
          <a:ln/>
        </p:spPr>
      </p:sp>
      <p:pic>
        <p:nvPicPr>
          <p:cNvPr id="5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22376" y="1911096"/>
            <a:ext cx="365760" cy="365760"/>
          </a:xfrm>
          <a:prstGeom prst="rect">
            <a:avLst/>
          </a:prstGeom>
        </p:spPr>
      </p:pic>
      <p:sp>
        <p:nvSpPr>
          <p:cNvPr id="6" name="Text 3"/>
          <p:cNvSpPr txBox="1"/>
          <p:nvPr/>
        </p:nvSpPr>
        <p:spPr>
          <a:xfrm>
            <a:off x="1508760" y="1691640"/>
            <a:ext cx="5623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23C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Struktura</a:t>
            </a:r>
            <a:endParaRPr lang="en-US" sz="1700" dirty="0"/>
          </a:p>
        </p:txBody>
      </p:sp>
      <p:sp>
        <p:nvSpPr>
          <p:cNvPr id="7" name="Text 4"/>
          <p:cNvSpPr txBox="1"/>
          <p:nvPr/>
        </p:nvSpPr>
        <p:spPr>
          <a:xfrm>
            <a:off x="1508760" y="2039112"/>
            <a:ext cx="56235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1B23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shape, dtypes, head(). Kolona koja bi trebalo da bude broj a jeste object = prvi nalaz.</a:t>
            </a:r>
            <a:endParaRPr lang="en-US" sz="1400" dirty="0"/>
          </a:p>
        </p:txBody>
      </p:sp>
      <p:sp>
        <p:nvSpPr>
          <p:cNvPr id="8" name="Shape 5"/>
          <p:cNvSpPr/>
          <p:nvPr/>
        </p:nvSpPr>
        <p:spPr>
          <a:xfrm>
            <a:off x="548640" y="2697480"/>
            <a:ext cx="713232" cy="713232"/>
          </a:xfrm>
          <a:prstGeom prst="ellipse">
            <a:avLst/>
          </a:prstGeom>
          <a:solidFill>
            <a:srgbClr val="7FA99B"/>
          </a:solidFill>
          <a:ln/>
        </p:spPr>
      </p:sp>
      <p:pic>
        <p:nvPicPr>
          <p:cNvPr id="9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22376" y="2871216"/>
            <a:ext cx="365760" cy="365760"/>
          </a:xfrm>
          <a:prstGeom prst="rect">
            <a:avLst/>
          </a:prstGeom>
        </p:spPr>
      </p:pic>
      <p:sp>
        <p:nvSpPr>
          <p:cNvPr id="10" name="Text 6"/>
          <p:cNvSpPr txBox="1"/>
          <p:nvPr/>
        </p:nvSpPr>
        <p:spPr>
          <a:xfrm>
            <a:off x="1508760" y="2651760"/>
            <a:ext cx="5623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23C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Potpunost</a:t>
            </a:r>
            <a:endParaRPr lang="en-US" sz="1700" dirty="0"/>
          </a:p>
        </p:txBody>
      </p:sp>
      <p:sp>
        <p:nvSpPr>
          <p:cNvPr id="11" name="Text 7"/>
          <p:cNvSpPr txBox="1"/>
          <p:nvPr/>
        </p:nvSpPr>
        <p:spPr>
          <a:xfrm>
            <a:off x="1508760" y="2999232"/>
            <a:ext cx="56235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1B23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isna().sum() po koloni, kao broj i kao udeo. Obrazac nedostajanja: nasumično ili vezano za nešto?</a:t>
            </a:r>
            <a:endParaRPr lang="en-US" sz="1400" dirty="0"/>
          </a:p>
        </p:txBody>
      </p:sp>
      <p:sp>
        <p:nvSpPr>
          <p:cNvPr id="12" name="Shape 8"/>
          <p:cNvSpPr/>
          <p:nvPr/>
        </p:nvSpPr>
        <p:spPr>
          <a:xfrm>
            <a:off x="548640" y="3657600"/>
            <a:ext cx="713232" cy="713232"/>
          </a:xfrm>
          <a:prstGeom prst="ellipse">
            <a:avLst/>
          </a:prstGeom>
          <a:solidFill>
            <a:srgbClr val="7FA99B"/>
          </a:solidFill>
          <a:ln/>
        </p:spPr>
      </p:sp>
      <p:pic>
        <p:nvPicPr>
          <p:cNvPr id="13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22376" y="3831336"/>
            <a:ext cx="365760" cy="365760"/>
          </a:xfrm>
          <a:prstGeom prst="rect">
            <a:avLst/>
          </a:prstGeom>
        </p:spPr>
      </p:pic>
      <p:sp>
        <p:nvSpPr>
          <p:cNvPr id="14" name="Text 9"/>
          <p:cNvSpPr txBox="1"/>
          <p:nvPr/>
        </p:nvSpPr>
        <p:spPr>
          <a:xfrm>
            <a:off x="1508760" y="3611880"/>
            <a:ext cx="5623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23C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Jedinstvenost</a:t>
            </a:r>
            <a:endParaRPr lang="en-US" sz="1700" dirty="0"/>
          </a:p>
        </p:txBody>
      </p:sp>
      <p:sp>
        <p:nvSpPr>
          <p:cNvPr id="15" name="Text 10"/>
          <p:cNvSpPr txBox="1"/>
          <p:nvPr/>
        </p:nvSpPr>
        <p:spPr>
          <a:xfrm>
            <a:off x="1508760" y="3959352"/>
            <a:ext cx="56235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1B23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duplicated() na celoj vrsti i na ključu. nunique() za kategorije — uporedi sa rečnikom podataka.</a:t>
            </a:r>
            <a:endParaRPr lang="en-US" sz="1400" dirty="0"/>
          </a:p>
        </p:txBody>
      </p:sp>
      <p:sp>
        <p:nvSpPr>
          <p:cNvPr id="16" name="Shape 11"/>
          <p:cNvSpPr/>
          <p:nvPr/>
        </p:nvSpPr>
        <p:spPr>
          <a:xfrm>
            <a:off x="548640" y="4617720"/>
            <a:ext cx="713232" cy="713232"/>
          </a:xfrm>
          <a:prstGeom prst="ellipse">
            <a:avLst/>
          </a:prstGeom>
          <a:solidFill>
            <a:srgbClr val="7FA99B"/>
          </a:solidFill>
          <a:ln/>
        </p:spPr>
      </p:sp>
      <p:pic>
        <p:nvPicPr>
          <p:cNvPr id="17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22376" y="4791456"/>
            <a:ext cx="365760" cy="365760"/>
          </a:xfrm>
          <a:prstGeom prst="rect">
            <a:avLst/>
          </a:prstGeom>
        </p:spPr>
      </p:pic>
      <p:sp>
        <p:nvSpPr>
          <p:cNvPr id="18" name="Text 12"/>
          <p:cNvSpPr txBox="1"/>
          <p:nvPr/>
        </p:nvSpPr>
        <p:spPr>
          <a:xfrm>
            <a:off x="1508760" y="4572000"/>
            <a:ext cx="5623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23C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Opsezi i oblik</a:t>
            </a:r>
            <a:endParaRPr lang="en-US" sz="1700" dirty="0"/>
          </a:p>
        </p:txBody>
      </p:sp>
      <p:sp>
        <p:nvSpPr>
          <p:cNvPr id="19" name="Text 13"/>
          <p:cNvSpPr txBox="1"/>
          <p:nvPr/>
        </p:nvSpPr>
        <p:spPr>
          <a:xfrm>
            <a:off x="1508760" y="4919472"/>
            <a:ext cx="56235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1B23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describe(), min/max naspram dozvoljenih vrednosti, asimetrija. nlargest(10) za sve što ima asimetriju iznad 3.</a:t>
            </a:r>
            <a:endParaRPr lang="en-US" sz="1400" dirty="0"/>
          </a:p>
        </p:txBody>
      </p:sp>
      <p:sp>
        <p:nvSpPr>
          <p:cNvPr id="20" name="Shape 14"/>
          <p:cNvSpPr/>
          <p:nvPr/>
        </p:nvSpPr>
        <p:spPr>
          <a:xfrm>
            <a:off x="7589520" y="1737360"/>
            <a:ext cx="4023360" cy="3931920"/>
          </a:xfrm>
          <a:prstGeom prst="roundRect">
            <a:avLst>
              <a:gd name="adj" fmla="val 2791"/>
            </a:avLst>
          </a:prstGeom>
          <a:solidFill>
            <a:srgbClr val="E4EEEA"/>
          </a:solidFill>
          <a:ln w="12700">
            <a:solidFill>
              <a:srgbClr val="E4EEEA"/>
            </a:solidFill>
            <a:prstDash val="solid"/>
          </a:ln>
        </p:spPr>
      </p:sp>
      <p:sp>
        <p:nvSpPr>
          <p:cNvPr id="21" name="Text 15"/>
          <p:cNvSpPr txBox="1"/>
          <p:nvPr/>
        </p:nvSpPr>
        <p:spPr>
          <a:xfrm>
            <a:off x="7818120" y="1920240"/>
            <a:ext cx="3657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23C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Izlaz profilisanja: jedna tabela</a:t>
            </a:r>
            <a:endParaRPr lang="en-US" sz="1400" dirty="0"/>
          </a:p>
        </p:txBody>
      </p:sp>
      <p:sp>
        <p:nvSpPr>
          <p:cNvPr id="22" name="Text 16"/>
          <p:cNvSpPr txBox="1"/>
          <p:nvPr/>
        </p:nvSpPr>
        <p:spPr>
          <a:xfrm>
            <a:off x="7818120" y="2377440"/>
            <a:ext cx="3611880" cy="3108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1B232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kolona | tip | očekivani tip | broj_nan | udeo_nan | broj_jedinstvenih | očekivano_jedinstvenih | min | max | primer_problema</a:t>
            </a:r>
            <a:endParaRPr lang="en-US" sz="1100" dirty="0"/>
          </a:p>
          <a:p>
            <a:pPr indent="0" marL="0">
              <a:buNone/>
            </a:pP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1B232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Ovu tabelu student predaje na kontrolnoj tački 1 kao rezultati/profil_kvaliteta.csv. Ona je i prvi odeljak izveštaja („šta smo dobili“).</a:t>
            </a:r>
            <a:endParaRPr lang="en-US" sz="11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411480"/>
            <a:ext cx="11094415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200" b="1" dirty="0">
                <a:solidFill>
                  <a:srgbClr val="123C3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Nedostajuće vrednosti: prvo zašto, pa tek onda šta</a:t>
            </a:r>
            <a:endParaRPr lang="en-US" sz="3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640080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B7C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P2 · Priprema podataka · Praksa u Data &amp; AI timu</a:t>
            </a:r>
            <a:endParaRPr lang="en-US" sz="1000" dirty="0"/>
          </a:p>
        </p:txBody>
      </p:sp>
      <p:graphicFrame>
        <p:nvGraphicFramePr>
          <p:cNvPr id="6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600200"/>
          <a:ext cx="11094415" cy="914400"/>
        </p:xfrm>
        <a:graphic>
          <a:graphicData uri="http://schemas.openxmlformats.org/drawingml/2006/table">
            <a:tbl>
              <a:tblPr/>
              <a:tblGrid>
                <a:gridCol w="2468880"/>
                <a:gridCol w="2651760"/>
                <a:gridCol w="3108960"/>
                <a:gridCol w="2834640"/>
              </a:tblGrid>
              <a:tr h="56692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Mehanizam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50800" marB="50800" anchor="ctr">
                    <a:lnL w="6350" cap="flat" cmpd="sng" algn="ctr">
                      <a:solidFill>
                        <a:srgbClr val="D5D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23C3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Značenje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50800" marB="50800" anchor="ctr">
                    <a:lnL w="6350" cap="flat" cmpd="sng" algn="ctr">
                      <a:solidFill>
                        <a:srgbClr val="D5D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23C3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Primer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50800" marB="50800" anchor="ctr">
                    <a:lnL w="6350" cap="flat" cmpd="sng" algn="ctr">
                      <a:solidFill>
                        <a:srgbClr val="D5D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23C3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Posledica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50800" marB="50800" anchor="ctr">
                    <a:lnL w="6350" cap="flat" cmpd="sng" algn="ctr">
                      <a:solidFill>
                        <a:srgbClr val="D5D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23C3A"/>
                    </a:solidFill>
                  </a:tcPr>
                </a:tc>
              </a:tr>
              <a:tr h="56692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B232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MCAR — potpuno slučajno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50800" marB="50800" anchor="ctr">
                    <a:lnL w="6350" cap="flat" cmpd="sng" algn="ctr">
                      <a:solidFill>
                        <a:srgbClr val="D5D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B232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Nedostajanje nema veze ni sa čim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50800" marB="50800" anchor="ctr">
                    <a:lnL w="6350" cap="flat" cmpd="sng" algn="ctr">
                      <a:solidFill>
                        <a:srgbClr val="D5D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B232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Greška u izvozu obrisala 4% godina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50800" marB="50800" anchor="ctr">
                    <a:lnL w="6350" cap="flat" cmpd="sng" algn="ctr">
                      <a:solidFill>
                        <a:srgbClr val="D5D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B232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Brisanje vrsta je bezopasno (ali rasipno)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50800" marB="50800" anchor="ctr">
                    <a:lnL w="6350" cap="flat" cmpd="sng" algn="ctr">
                      <a:solidFill>
                        <a:srgbClr val="D5D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6692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B232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MAR — slučajno uz ostale kolone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50800" marB="50800" anchor="ctr">
                    <a:lnL w="6350" cap="flat" cmpd="sng" algn="ctr">
                      <a:solidFill>
                        <a:srgbClr val="D5D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3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B232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Zavisi od nečeg što imamo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50800" marB="50800" anchor="ctr">
                    <a:lnL w="6350" cap="flat" cmpd="sng" algn="ctr">
                      <a:solidFill>
                        <a:srgbClr val="D5D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3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B232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Prepaid korisnici češće nemaju račun u sistemu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50800" marB="50800" anchor="ctr">
                    <a:lnL w="6350" cap="flat" cmpd="sng" algn="ctr">
                      <a:solidFill>
                        <a:srgbClr val="D5D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3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B232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Imputiraj po grupi (tip paketa)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50800" marB="50800" anchor="ctr">
                    <a:lnL w="6350" cap="flat" cmpd="sng" algn="ctr">
                      <a:solidFill>
                        <a:srgbClr val="D5D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3"/>
                    </a:solidFill>
                  </a:tcPr>
                </a:tc>
              </a:tr>
              <a:tr h="56692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B232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MNAR — nije slučajno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50800" marB="50800" anchor="ctr">
                    <a:lnL w="6350" cap="flat" cmpd="sng" algn="ctr">
                      <a:solidFill>
                        <a:srgbClr val="D5D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B232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Zavisi od same vrednosti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50800" marB="50800" anchor="ctr">
                    <a:lnL w="6350" cap="flat" cmpd="sng" algn="ctr">
                      <a:solidFill>
                        <a:srgbClr val="D5D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B232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Nezadovoljni korisnici ne popunjavaju anketu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50800" marB="50800" anchor="ctr">
                    <a:lnL w="6350" cap="flat" cmpd="sng" algn="ctr">
                      <a:solidFill>
                        <a:srgbClr val="D5D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B232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Imputacija skriva efekat — ostavi NaN + indikator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50800" marB="50800" anchor="ctr">
                    <a:lnL w="6350" cap="flat" cmpd="sng" algn="ctr">
                      <a:solidFill>
                        <a:srgbClr val="D5D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graphicFrame>
        <p:nvGraphicFramePr>
          <p:cNvPr id="11" name="Table 1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4160520"/>
          <a:ext cx="11094415" cy="914400"/>
        </p:xfrm>
        <a:graphic>
          <a:graphicData uri="http://schemas.openxmlformats.org/drawingml/2006/table">
            <a:tbl>
              <a:tblPr/>
              <a:tblGrid>
                <a:gridCol w="2011680"/>
                <a:gridCol w="4572000"/>
                <a:gridCol w="4480560"/>
              </a:tblGrid>
              <a:tr h="34747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Strategija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50800" marB="50800" anchor="ctr">
                    <a:lnL w="6350" cap="flat" cmpd="sng" algn="ctr">
                      <a:solidFill>
                        <a:srgbClr val="D5D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23C3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Kada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50800" marB="50800" anchor="ctr">
                    <a:lnL w="6350" cap="flat" cmpd="sng" algn="ctr">
                      <a:solidFill>
                        <a:srgbClr val="D5D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23C3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Rizik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50800" marB="50800" anchor="ctr">
                    <a:lnL w="6350" cap="flat" cmpd="sng" algn="ctr">
                      <a:solidFill>
                        <a:srgbClr val="D5D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23C3A"/>
                    </a:solidFill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1B232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Obriši vrstu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50800" marB="50800" anchor="ctr">
                    <a:lnL w="6350" cap="flat" cmpd="sng" algn="ctr">
                      <a:solidFill>
                        <a:srgbClr val="D5D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1B232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Malo NaN, MCAR, ključna kolona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50800" marB="50800" anchor="ctr">
                    <a:lnL w="6350" cap="flat" cmpd="sng" algn="ctr">
                      <a:solidFill>
                        <a:srgbClr val="D5D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1B232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Gubiš i ispravne podatke iz ostalih kolona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50800" marB="50800" anchor="ctr">
                    <a:lnL w="6350" cap="flat" cmpd="sng" algn="ctr">
                      <a:solidFill>
                        <a:srgbClr val="D5D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1B232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Sredina / medijana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50800" marB="50800" anchor="ctr">
                    <a:lnL w="6350" cap="flat" cmpd="sng" algn="ctr">
                      <a:solidFill>
                        <a:srgbClr val="D5D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3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1B232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Numerička, MCAR/MAR; medijana ako asimetrična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50800" marB="50800" anchor="ctr">
                    <a:lnL w="6350" cap="flat" cmpd="sng" algn="ctr">
                      <a:solidFill>
                        <a:srgbClr val="D5D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3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1B232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Smanjuje varijansu; sredina na asimetričnoj koloni je pogrešna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50800" marB="50800" anchor="ctr">
                    <a:lnL w="6350" cap="flat" cmpd="sng" algn="ctr">
                      <a:solidFill>
                        <a:srgbClr val="D5D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3"/>
                    </a:solidFill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1B232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Po grupi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50800" marB="50800" anchor="ctr">
                    <a:lnL w="6350" cap="flat" cmpd="sng" algn="ctr">
                      <a:solidFill>
                        <a:srgbClr val="D5D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1B232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Kad grupe imaju različite nivoe (račun po paketu)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50800" marB="50800" anchor="ctr">
                    <a:lnL w="6350" cap="flat" cmpd="sng" algn="ctr">
                      <a:solidFill>
                        <a:srgbClr val="D5D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1B232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Traži da grupa bude poznata i dovoljno velika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50800" marB="50800" anchor="ctr">
                    <a:lnL w="6350" cap="flat" cmpd="sng" algn="ctr">
                      <a:solidFill>
                        <a:srgbClr val="D5D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1B232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Iz drugih kolona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50800" marB="50800" anchor="ctr">
                    <a:lnL w="6350" cap="flat" cmpd="sng" algn="ctr">
                      <a:solidFill>
                        <a:srgbClr val="D5D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3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1B232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staz_meseci iz datum_aktivacije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50800" marB="50800" anchor="ctr">
                    <a:lnL w="6350" cap="flat" cmpd="sng" algn="ctr">
                      <a:solidFill>
                        <a:srgbClr val="D5D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3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1B232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Najbolja opcija kad postoji — nije nagađanje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50800" marB="50800" anchor="ctr">
                    <a:lnL w="6350" cap="flat" cmpd="sng" algn="ctr">
                      <a:solidFill>
                        <a:srgbClr val="D5D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3"/>
                    </a:solidFill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1B232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Indikator + NaN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50800" marB="50800" anchor="ctr">
                    <a:lnL w="6350" cap="flat" cmpd="sng" algn="ctr">
                      <a:solidFill>
                        <a:srgbClr val="D5D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1B232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MNAR, ciljna varijabla, anketa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50800" marB="50800" anchor="ctr">
                    <a:lnL w="6350" cap="flat" cmpd="sng" algn="ctr">
                      <a:solidFill>
                        <a:srgbClr val="D5D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1B232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Neki algoritmi ne primaju NaN — ali analiza može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50800" marB="50800" anchor="ctr">
                    <a:lnL w="6350" cap="flat" cmpd="sng" algn="ctr">
                      <a:solidFill>
                        <a:srgbClr val="D5D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411480"/>
            <a:ext cx="11094415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200" b="1" dirty="0">
                <a:solidFill>
                  <a:srgbClr val="123C3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Duplikati: potpuni, skoro-potpuni i po ključu</a:t>
            </a:r>
            <a:endParaRPr lang="en-US" sz="3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640080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B7C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P2 · Priprema podataka · Praksa u Data &amp; AI timu</a:t>
            </a:r>
            <a:endParaRPr lang="en-US" sz="1000" dirty="0"/>
          </a:p>
        </p:txBody>
      </p:sp>
      <p:sp>
        <p:nvSpPr>
          <p:cNvPr id="4" name="Shape 2"/>
          <p:cNvSpPr/>
          <p:nvPr/>
        </p:nvSpPr>
        <p:spPr>
          <a:xfrm>
            <a:off x="548640" y="1645920"/>
            <a:ext cx="3515258" cy="2377440"/>
          </a:xfrm>
          <a:prstGeom prst="roundRect">
            <a:avLst>
              <a:gd name="adj" fmla="val 4615"/>
            </a:avLst>
          </a:prstGeom>
          <a:solidFill>
            <a:srgbClr val="E4EEEA"/>
          </a:solidFill>
          <a:ln w="12700">
            <a:solidFill>
              <a:srgbClr val="E4EEEA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777240" y="1874520"/>
            <a:ext cx="502920" cy="502920"/>
          </a:xfrm>
          <a:prstGeom prst="ellipse">
            <a:avLst/>
          </a:prstGeom>
          <a:solidFill>
            <a:srgbClr val="123C3A"/>
          </a:solidFill>
          <a:ln/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96112" y="1993392"/>
            <a:ext cx="265176" cy="265176"/>
          </a:xfrm>
          <a:prstGeom prst="rect">
            <a:avLst/>
          </a:prstGeom>
        </p:spPr>
      </p:pic>
      <p:sp>
        <p:nvSpPr>
          <p:cNvPr id="7" name="Text 4"/>
          <p:cNvSpPr txBox="1"/>
          <p:nvPr/>
        </p:nvSpPr>
        <p:spPr>
          <a:xfrm>
            <a:off x="777240" y="2514600"/>
            <a:ext cx="3058058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23C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Potpuni duplikat</a:t>
            </a:r>
            <a:endParaRPr lang="en-US" sz="1600" dirty="0"/>
          </a:p>
        </p:txBody>
      </p:sp>
      <p:sp>
        <p:nvSpPr>
          <p:cNvPr id="8" name="Text 5"/>
          <p:cNvSpPr txBox="1"/>
          <p:nvPr/>
        </p:nvSpPr>
        <p:spPr>
          <a:xfrm>
            <a:off x="777240" y="2926080"/>
            <a:ext cx="3058058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1B23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Sve kolone identične. df.duplicated() ih nalazi odmah.</a:t>
            </a:r>
            <a:endParaRPr lang="en-US" sz="1300" dirty="0"/>
          </a:p>
          <a:p>
            <a:pPr indent="0" marL="0">
              <a:buNone/>
            </a:pP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1B23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 našem izvozu: 22.</a:t>
            </a:r>
            <a:endParaRPr lang="en-US" sz="1300" dirty="0"/>
          </a:p>
        </p:txBody>
      </p:sp>
      <p:sp>
        <p:nvSpPr>
          <p:cNvPr id="9" name="Shape 6"/>
          <p:cNvSpPr/>
          <p:nvPr/>
        </p:nvSpPr>
        <p:spPr>
          <a:xfrm>
            <a:off x="4338218" y="1645920"/>
            <a:ext cx="3515258" cy="2377440"/>
          </a:xfrm>
          <a:prstGeom prst="roundRect">
            <a:avLst>
              <a:gd name="adj" fmla="val 4615"/>
            </a:avLst>
          </a:prstGeom>
          <a:solidFill>
            <a:srgbClr val="E4EEEA"/>
          </a:solidFill>
          <a:ln w="12700">
            <a:solidFill>
              <a:srgbClr val="E4EEEA"/>
            </a:solidFill>
            <a:prstDash val="solid"/>
          </a:ln>
        </p:spPr>
      </p:sp>
      <p:sp>
        <p:nvSpPr>
          <p:cNvPr id="10" name="Shape 7"/>
          <p:cNvSpPr/>
          <p:nvPr/>
        </p:nvSpPr>
        <p:spPr>
          <a:xfrm>
            <a:off x="4566818" y="1874520"/>
            <a:ext cx="502920" cy="502920"/>
          </a:xfrm>
          <a:prstGeom prst="ellipse">
            <a:avLst/>
          </a:prstGeom>
          <a:solidFill>
            <a:srgbClr val="123C3A"/>
          </a:solidFill>
          <a:ln/>
        </p:spPr>
      </p:sp>
      <p:pic>
        <p:nvPicPr>
          <p:cNvPr id="11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685690" y="1993392"/>
            <a:ext cx="265176" cy="265176"/>
          </a:xfrm>
          <a:prstGeom prst="rect">
            <a:avLst/>
          </a:prstGeom>
        </p:spPr>
      </p:pic>
      <p:sp>
        <p:nvSpPr>
          <p:cNvPr id="12" name="Text 8"/>
          <p:cNvSpPr txBox="1"/>
          <p:nvPr/>
        </p:nvSpPr>
        <p:spPr>
          <a:xfrm>
            <a:off x="4566818" y="2514600"/>
            <a:ext cx="3058058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23C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Skoro-duplikat</a:t>
            </a:r>
            <a:endParaRPr lang="en-US" sz="1600" dirty="0"/>
          </a:p>
        </p:txBody>
      </p:sp>
      <p:sp>
        <p:nvSpPr>
          <p:cNvPr id="13" name="Text 9"/>
          <p:cNvSpPr txBox="1"/>
          <p:nvPr/>
        </p:nvSpPr>
        <p:spPr>
          <a:xfrm>
            <a:off x="4566818" y="2926080"/>
            <a:ext cx="3058058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1B23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Isti korisnik, „BEOGRAD“ umesto „Beograd“, razmak viška. duplicated() ih ne vidi.</a:t>
            </a:r>
            <a:endParaRPr lang="en-US" sz="1300" dirty="0"/>
          </a:p>
          <a:p>
            <a:pPr indent="0" marL="0">
              <a:buNone/>
            </a:pP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1B23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 našem izvozu: 10 — nevidljivi dok ne standardizuješ.</a:t>
            </a:r>
            <a:endParaRPr lang="en-US" sz="1300" dirty="0"/>
          </a:p>
        </p:txBody>
      </p:sp>
      <p:sp>
        <p:nvSpPr>
          <p:cNvPr id="14" name="Shape 10"/>
          <p:cNvSpPr/>
          <p:nvPr/>
        </p:nvSpPr>
        <p:spPr>
          <a:xfrm>
            <a:off x="8127797" y="1645920"/>
            <a:ext cx="3515258" cy="2377440"/>
          </a:xfrm>
          <a:prstGeom prst="roundRect">
            <a:avLst>
              <a:gd name="adj" fmla="val 4615"/>
            </a:avLst>
          </a:prstGeom>
          <a:solidFill>
            <a:srgbClr val="E4EEEA"/>
          </a:solidFill>
          <a:ln w="12700">
            <a:solidFill>
              <a:srgbClr val="E4EEEA"/>
            </a:solidFill>
            <a:prstDash val="solid"/>
          </a:ln>
        </p:spPr>
      </p:sp>
      <p:sp>
        <p:nvSpPr>
          <p:cNvPr id="15" name="Shape 11"/>
          <p:cNvSpPr/>
          <p:nvPr/>
        </p:nvSpPr>
        <p:spPr>
          <a:xfrm>
            <a:off x="8356397" y="1874520"/>
            <a:ext cx="502920" cy="502920"/>
          </a:xfrm>
          <a:prstGeom prst="ellipse">
            <a:avLst/>
          </a:prstGeom>
          <a:solidFill>
            <a:srgbClr val="123C3A"/>
          </a:solidFill>
          <a:ln/>
        </p:spPr>
      </p:sp>
      <p:pic>
        <p:nvPicPr>
          <p:cNvPr id="16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475269" y="1993392"/>
            <a:ext cx="265176" cy="265176"/>
          </a:xfrm>
          <a:prstGeom prst="rect">
            <a:avLst/>
          </a:prstGeom>
        </p:spPr>
      </p:pic>
      <p:sp>
        <p:nvSpPr>
          <p:cNvPr id="17" name="Text 12"/>
          <p:cNvSpPr txBox="1"/>
          <p:nvPr/>
        </p:nvSpPr>
        <p:spPr>
          <a:xfrm>
            <a:off x="8356397" y="2514600"/>
            <a:ext cx="3058058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23C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Duplikat po ključu</a:t>
            </a:r>
            <a:endParaRPr lang="en-US" sz="1600" dirty="0"/>
          </a:p>
        </p:txBody>
      </p:sp>
      <p:sp>
        <p:nvSpPr>
          <p:cNvPr id="18" name="Text 13"/>
          <p:cNvSpPr txBox="1"/>
          <p:nvPr/>
        </p:nvSpPr>
        <p:spPr>
          <a:xfrm>
            <a:off x="8356397" y="2926080"/>
            <a:ext cx="3058058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1B23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Isti id_korisnika, drugačije vrednosti. Koju vrstu zadržati? Najnoviju? Najpotpuniju? To je odluka, i ide u dnevnik.</a:t>
            </a:r>
            <a:endParaRPr lang="en-US" sz="1300" dirty="0"/>
          </a:p>
          <a:p>
            <a:pPr indent="0" marL="0">
              <a:buNone/>
            </a:pP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1B23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 našem izvozu posle koraka 2 i 3: 0.</a:t>
            </a:r>
            <a:endParaRPr lang="en-US" sz="1300" dirty="0"/>
          </a:p>
        </p:txBody>
      </p:sp>
      <p:sp>
        <p:nvSpPr>
          <p:cNvPr id="19" name="Text 14"/>
          <p:cNvSpPr txBox="1"/>
          <p:nvPr/>
        </p:nvSpPr>
        <p:spPr>
          <a:xfrm>
            <a:off x="548640" y="4297680"/>
            <a:ext cx="3515258" cy="907085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buNone/>
            </a:pPr>
            <a:r>
              <a:rPr lang="en-US" sz="5400" b="1" dirty="0">
                <a:solidFill>
                  <a:srgbClr val="123C3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22</a:t>
            </a:r>
            <a:endParaRPr lang="en-US" sz="5400" dirty="0"/>
          </a:p>
        </p:txBody>
      </p:sp>
      <p:sp>
        <p:nvSpPr>
          <p:cNvPr id="20" name="Text 15"/>
          <p:cNvSpPr txBox="1"/>
          <p:nvPr/>
        </p:nvSpPr>
        <p:spPr>
          <a:xfrm>
            <a:off x="548640" y="5204765"/>
            <a:ext cx="3515258" cy="55595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6B7C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duplicated() pre standardizacije</a:t>
            </a:r>
            <a:endParaRPr lang="en-US" sz="1300" dirty="0"/>
          </a:p>
        </p:txBody>
      </p:sp>
      <p:sp>
        <p:nvSpPr>
          <p:cNvPr id="21" name="Text 16"/>
          <p:cNvSpPr txBox="1"/>
          <p:nvPr/>
        </p:nvSpPr>
        <p:spPr>
          <a:xfrm>
            <a:off x="4246778" y="4297680"/>
            <a:ext cx="3515258" cy="907085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buNone/>
            </a:pPr>
            <a:r>
              <a:rPr lang="en-US" sz="5400" b="1" dirty="0">
                <a:solidFill>
                  <a:srgbClr val="7FA99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32</a:t>
            </a:r>
            <a:endParaRPr lang="en-US" sz="5400" dirty="0"/>
          </a:p>
        </p:txBody>
      </p:sp>
      <p:sp>
        <p:nvSpPr>
          <p:cNvPr id="22" name="Text 17"/>
          <p:cNvSpPr txBox="1"/>
          <p:nvPr/>
        </p:nvSpPr>
        <p:spPr>
          <a:xfrm>
            <a:off x="4246778" y="5204765"/>
            <a:ext cx="3515258" cy="55595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6B7C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duplicated() posle standardizacije</a:t>
            </a:r>
            <a:endParaRPr lang="en-US" sz="1300" dirty="0"/>
          </a:p>
        </p:txBody>
      </p:sp>
      <p:sp>
        <p:nvSpPr>
          <p:cNvPr id="23" name="Text 18"/>
          <p:cNvSpPr txBox="1"/>
          <p:nvPr/>
        </p:nvSpPr>
        <p:spPr>
          <a:xfrm>
            <a:off x="7944917" y="4297680"/>
            <a:ext cx="3515258" cy="907085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buNone/>
            </a:pPr>
            <a:r>
              <a:rPr lang="en-US" sz="5400" b="1" dirty="0">
                <a:solidFill>
                  <a:srgbClr val="E8A3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1.200</a:t>
            </a:r>
            <a:endParaRPr lang="en-US" sz="5400" dirty="0"/>
          </a:p>
        </p:txBody>
      </p:sp>
      <p:sp>
        <p:nvSpPr>
          <p:cNvPr id="24" name="Text 19"/>
          <p:cNvSpPr txBox="1"/>
          <p:nvPr/>
        </p:nvSpPr>
        <p:spPr>
          <a:xfrm>
            <a:off x="7944917" y="5204765"/>
            <a:ext cx="3515258" cy="55595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6B7C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vrsta posle uklanjanja — tačno koliko ima korisnika</a:t>
            </a:r>
            <a:endParaRPr lang="en-US" sz="13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411480"/>
            <a:ext cx="11094415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200" b="1" dirty="0">
                <a:solidFill>
                  <a:srgbClr val="123C3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Nekonzistentne kategorije: eksplicitna mapa, ne regex</a:t>
            </a:r>
            <a:endParaRPr lang="en-US" sz="3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1170432"/>
            <a:ext cx="11094415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rgbClr val="6B7C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region ima 17 različitih vrednosti u sirovim podacima, a rečnik dozvoljava 4.</a:t>
            </a:r>
            <a:endParaRPr lang="en-US" sz="15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640080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B7C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P2 · Priprema podataka · Praksa u Data &amp; AI timu</a:t>
            </a:r>
            <a:endParaRPr lang="en-US" sz="1000" dirty="0"/>
          </a:p>
        </p:txBody>
      </p:sp>
      <p:sp>
        <p:nvSpPr>
          <p:cNvPr id="5" name="Text 3"/>
          <p:cNvSpPr txBox="1"/>
          <p:nvPr/>
        </p:nvSpPr>
        <p:spPr>
          <a:xfrm>
            <a:off x="548640" y="1691640"/>
            <a:ext cx="5029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23C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Sirovo → kanonsko</a:t>
            </a:r>
            <a:endParaRPr lang="en-US" sz="1400" dirty="0"/>
          </a:p>
        </p:txBody>
      </p:sp>
      <p:graphicFrame>
        <p:nvGraphicFramePr>
          <p:cNvPr id="8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2103120"/>
          <a:ext cx="6035040" cy="914400"/>
        </p:xfrm>
        <a:graphic>
          <a:graphicData uri="http://schemas.openxmlformats.org/drawingml/2006/table">
            <a:tbl>
              <a:tblPr/>
              <a:tblGrid>
                <a:gridCol w="4114800"/>
                <a:gridCol w="1920240"/>
              </a:tblGrid>
              <a:tr h="5029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Nađeno u izvozu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50800" marB="50800" anchor="ctr">
                    <a:lnL w="6350" cap="flat" cmpd="sng" algn="ctr">
                      <a:solidFill>
                        <a:srgbClr val="D5D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23C3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Kanonska vrednost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50800" marB="50800" anchor="ctr">
                    <a:lnL w="6350" cap="flat" cmpd="sng" algn="ctr">
                      <a:solidFill>
                        <a:srgbClr val="D5D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23C3A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B232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Beograd, beograd, BEOGRAD, „Beograd “, BG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50800" marB="50800" anchor="ctr">
                    <a:lnL w="6350" cap="flat" cmpd="sng" algn="ctr">
                      <a:solidFill>
                        <a:srgbClr val="D5D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B232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Beograd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50800" marB="50800" anchor="ctr">
                    <a:lnL w="6350" cap="flat" cmpd="sng" algn="ctr">
                      <a:solidFill>
                        <a:srgbClr val="D5D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B232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Vojvodina, vojvodina, VOJVODINA, „Vojvodina “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50800" marB="50800" anchor="ctr">
                    <a:lnL w="6350" cap="flat" cmpd="sng" algn="ctr">
                      <a:solidFill>
                        <a:srgbClr val="D5D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3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B232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Vojvodina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50800" marB="50800" anchor="ctr">
                    <a:lnL w="6350" cap="flat" cmpd="sng" algn="ctr">
                      <a:solidFill>
                        <a:srgbClr val="D5D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3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B232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Šumadija i Zapadna Srbija, Sumadija i Zapadna Srbija, šumadija i zapadna srbija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50800" marB="50800" anchor="ctr">
                    <a:lnL w="6350" cap="flat" cmpd="sng" algn="ctr">
                      <a:solidFill>
                        <a:srgbClr val="D5D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B232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Šumadija i Zapadna Srbija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50800" marB="50800" anchor="ctr">
                    <a:lnL w="6350" cap="flat" cmpd="sng" algn="ctr">
                      <a:solidFill>
                        <a:srgbClr val="D5D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B232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Južna i Istočna Srbija, Juzna i Istocna Srbija, JUŽNA I ISTOČNA SRBIJA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50800" marB="50800" anchor="ctr">
                    <a:lnL w="6350" cap="flat" cmpd="sng" algn="ctr">
                      <a:solidFill>
                        <a:srgbClr val="D5D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3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B232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Južna i Istočna Srbija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50800" marB="50800" anchor="ctr">
                    <a:lnL w="6350" cap="flat" cmpd="sng" algn="ctr">
                      <a:solidFill>
                        <a:srgbClr val="D5D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3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B232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Da, DA, da, Yes, 1, „Da “ / Ne, NE, ne, No, 0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50800" marB="50800" anchor="ctr">
                    <a:lnL w="6350" cap="flat" cmpd="sng" algn="ctr">
                      <a:solidFill>
                        <a:srgbClr val="D5D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B232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Da / Ne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50800" marB="50800" anchor="ctr">
                    <a:lnL w="6350" cap="flat" cmpd="sng" algn="ctr">
                      <a:solidFill>
                        <a:srgbClr val="D5D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7" name="Shape 4"/>
          <p:cNvSpPr/>
          <p:nvPr/>
        </p:nvSpPr>
        <p:spPr>
          <a:xfrm>
            <a:off x="6949440" y="1691640"/>
            <a:ext cx="4663440" cy="4480560"/>
          </a:xfrm>
          <a:prstGeom prst="roundRect">
            <a:avLst>
              <a:gd name="adj" fmla="val 2449"/>
            </a:avLst>
          </a:prstGeom>
          <a:solidFill>
            <a:srgbClr val="1B2A29"/>
          </a:solidFill>
          <a:ln w="12700">
            <a:solidFill>
              <a:srgbClr val="1B2A29"/>
            </a:solidFill>
            <a:prstDash val="solid"/>
          </a:ln>
        </p:spPr>
      </p:sp>
      <p:sp>
        <p:nvSpPr>
          <p:cNvPr id="8" name="Text 5"/>
          <p:cNvSpPr txBox="1"/>
          <p:nvPr/>
        </p:nvSpPr>
        <p:spPr>
          <a:xfrm>
            <a:off x="7178040" y="1874520"/>
            <a:ext cx="4297680" cy="4114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E6EEE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c["region"] = c["region"].str.strip()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E6EEE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mapa = {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E6EEE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"beograd": "Beograd",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E6EEE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"bg": "Beograd",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E6EEE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"vojvodina": "Vojvodina",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E6EEE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"sumadija i zapadna srbija":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E6EEE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"Šumadija i Zapadna Srbija",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E6EEE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...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E6EEE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E6EEE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c["region"] = c["region"].str.lower().map(mapa)</a:t>
            </a:r>
            <a:endParaRPr lang="en-US" sz="1100" dirty="0"/>
          </a:p>
          <a:p>
            <a:pPr indent="0" marL="0">
              <a:buNone/>
            </a:pP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E6EEE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test koji uvek radiš posle map():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E6EEE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assert c["region"].isna().sum() == 24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E6EEE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assert set(c["region"].dropna()) &lt;= dozvoljene</a:t>
            </a:r>
            <a:endParaRPr lang="en-US" sz="1100" dirty="0"/>
          </a:p>
        </p:txBody>
      </p:sp>
      <p:sp>
        <p:nvSpPr>
          <p:cNvPr id="9" name="Shape 6"/>
          <p:cNvSpPr/>
          <p:nvPr/>
        </p:nvSpPr>
        <p:spPr>
          <a:xfrm>
            <a:off x="548640" y="5257800"/>
            <a:ext cx="6035040" cy="914400"/>
          </a:xfrm>
          <a:prstGeom prst="roundRect">
            <a:avLst>
              <a:gd name="adj" fmla="val 10000"/>
            </a:avLst>
          </a:prstGeom>
          <a:solidFill>
            <a:srgbClr val="123C3A"/>
          </a:solidFill>
          <a:ln w="12700">
            <a:solidFill>
              <a:srgbClr val="FBF1DF"/>
            </a:solidFill>
            <a:prstDash val="solid"/>
          </a:ln>
        </p:spPr>
      </p:sp>
      <p:sp>
        <p:nvSpPr>
          <p:cNvPr id="10" name="Shape 7"/>
          <p:cNvSpPr/>
          <p:nvPr/>
        </p:nvSpPr>
        <p:spPr>
          <a:xfrm>
            <a:off x="548640" y="5257800"/>
            <a:ext cx="6035040" cy="914400"/>
          </a:xfrm>
          <a:prstGeom prst="roundRect">
            <a:avLst>
              <a:gd name="adj" fmla="val 10000"/>
            </a:avLst>
          </a:prstGeom>
          <a:solidFill>
            <a:srgbClr val="FBF1DF"/>
          </a:solidFill>
          <a:ln w="12700">
            <a:solidFill>
              <a:srgbClr val="FBF1DF"/>
            </a:solidFill>
            <a:prstDash val="solid"/>
          </a:ln>
        </p:spPr>
      </p:sp>
      <p:sp>
        <p:nvSpPr>
          <p:cNvPr id="11" name="Text 8"/>
          <p:cNvSpPr txBox="1"/>
          <p:nvPr/>
        </p:nvSpPr>
        <p:spPr>
          <a:xfrm>
            <a:off x="822960" y="5257800"/>
            <a:ext cx="54864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23C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Regex koji „pametno“ prepoznaje varijante niko neće razumeti za mesec dana. Mapa je dosadna, čitljiva i testabilna.</a:t>
            </a:r>
            <a:endParaRPr lang="en-US" sz="13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411480"/>
            <a:ext cx="11094415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200" b="1" dirty="0">
                <a:solidFill>
                  <a:srgbClr val="123C3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Tipovi i formati: brojevi kao tekst, datumi u tri formata</a:t>
            </a:r>
            <a:endParaRPr lang="en-US" sz="3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640080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B7C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P2 · Priprema podataka · Praksa u Data &amp; AI timu</a:t>
            </a:r>
            <a:endParaRPr lang="en-US" sz="1000" dirty="0"/>
          </a:p>
        </p:txBody>
      </p:sp>
      <p:sp>
        <p:nvSpPr>
          <p:cNvPr id="4" name="Shape 2"/>
          <p:cNvSpPr/>
          <p:nvPr/>
        </p:nvSpPr>
        <p:spPr>
          <a:xfrm>
            <a:off x="548640" y="1645920"/>
            <a:ext cx="3515258" cy="3291840"/>
          </a:xfrm>
          <a:prstGeom prst="roundRect">
            <a:avLst>
              <a:gd name="adj" fmla="val 3333"/>
            </a:avLst>
          </a:prstGeom>
          <a:solidFill>
            <a:srgbClr val="E4EEEA"/>
          </a:solidFill>
          <a:ln w="12700">
            <a:solidFill>
              <a:srgbClr val="E4EEEA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777240" y="1874520"/>
            <a:ext cx="502920" cy="502920"/>
          </a:xfrm>
          <a:prstGeom prst="ellipse">
            <a:avLst/>
          </a:prstGeom>
          <a:solidFill>
            <a:srgbClr val="123C3A"/>
          </a:solidFill>
          <a:ln/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96112" y="1993392"/>
            <a:ext cx="265176" cy="265176"/>
          </a:xfrm>
          <a:prstGeom prst="rect">
            <a:avLst/>
          </a:prstGeom>
        </p:spPr>
      </p:pic>
      <p:sp>
        <p:nvSpPr>
          <p:cNvPr id="7" name="Text 4"/>
          <p:cNvSpPr txBox="1"/>
          <p:nvPr/>
        </p:nvSpPr>
        <p:spPr>
          <a:xfrm>
            <a:off x="777240" y="2514600"/>
            <a:ext cx="3058058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23C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Broj kao tekst</a:t>
            </a:r>
            <a:endParaRPr lang="en-US" sz="1600" dirty="0"/>
          </a:p>
        </p:txBody>
      </p:sp>
      <p:sp>
        <p:nvSpPr>
          <p:cNvPr id="8" name="Text 5"/>
          <p:cNvSpPr txBox="1"/>
          <p:nvPr/>
        </p:nvSpPr>
        <p:spPr>
          <a:xfrm>
            <a:off x="777240" y="2926080"/>
            <a:ext cx="3058058" cy="1874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1B23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„2.450,00“ · „2235 RSD“ · „1.861 din“ · „12,5“</a:t>
            </a:r>
            <a:endParaRPr lang="en-US" sz="1300" dirty="0"/>
          </a:p>
          <a:p>
            <a:pPr indent="0" marL="0">
              <a:buNone/>
            </a:pP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1B23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Pandas učita celu kolonu kao object. mean() puca ili tiho preskače.</a:t>
            </a:r>
            <a:endParaRPr lang="en-US" sz="1300" dirty="0"/>
          </a:p>
          <a:p>
            <a:pPr indent="0" marL="0">
              <a:buNone/>
            </a:pP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1B23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Rešenje: funkcija u_broj(v) sa jasnim pravilima za tačku, zarez i sufiks. Test: broj NaN pre = broj NaN posle.</a:t>
            </a:r>
            <a:endParaRPr lang="en-US" sz="1300" dirty="0"/>
          </a:p>
        </p:txBody>
      </p:sp>
      <p:sp>
        <p:nvSpPr>
          <p:cNvPr id="9" name="Shape 6"/>
          <p:cNvSpPr/>
          <p:nvPr/>
        </p:nvSpPr>
        <p:spPr>
          <a:xfrm>
            <a:off x="4338218" y="1645920"/>
            <a:ext cx="3515258" cy="3291840"/>
          </a:xfrm>
          <a:prstGeom prst="roundRect">
            <a:avLst>
              <a:gd name="adj" fmla="val 3333"/>
            </a:avLst>
          </a:prstGeom>
          <a:solidFill>
            <a:srgbClr val="E4EEEA"/>
          </a:solidFill>
          <a:ln w="12700">
            <a:solidFill>
              <a:srgbClr val="E4EEEA"/>
            </a:solidFill>
            <a:prstDash val="solid"/>
          </a:ln>
        </p:spPr>
      </p:sp>
      <p:sp>
        <p:nvSpPr>
          <p:cNvPr id="10" name="Shape 7"/>
          <p:cNvSpPr/>
          <p:nvPr/>
        </p:nvSpPr>
        <p:spPr>
          <a:xfrm>
            <a:off x="4566818" y="1874520"/>
            <a:ext cx="502920" cy="502920"/>
          </a:xfrm>
          <a:prstGeom prst="ellipse">
            <a:avLst/>
          </a:prstGeom>
          <a:solidFill>
            <a:srgbClr val="123C3A"/>
          </a:solidFill>
          <a:ln/>
        </p:spPr>
      </p:sp>
      <p:pic>
        <p:nvPicPr>
          <p:cNvPr id="11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685690" y="1993392"/>
            <a:ext cx="265176" cy="265176"/>
          </a:xfrm>
          <a:prstGeom prst="rect">
            <a:avLst/>
          </a:prstGeom>
        </p:spPr>
      </p:pic>
      <p:sp>
        <p:nvSpPr>
          <p:cNvPr id="12" name="Text 8"/>
          <p:cNvSpPr txBox="1"/>
          <p:nvPr/>
        </p:nvSpPr>
        <p:spPr>
          <a:xfrm>
            <a:off x="4566818" y="2514600"/>
            <a:ext cx="3058058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23C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Tri formata datuma</a:t>
            </a:r>
            <a:endParaRPr lang="en-US" sz="1600" dirty="0"/>
          </a:p>
        </p:txBody>
      </p:sp>
      <p:sp>
        <p:nvSpPr>
          <p:cNvPr id="13" name="Text 9"/>
          <p:cNvSpPr txBox="1"/>
          <p:nvPr/>
        </p:nvSpPr>
        <p:spPr>
          <a:xfrm>
            <a:off x="4566818" y="2926080"/>
            <a:ext cx="3058058" cy="1874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1B23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2021-03-15 · 15.03.2021. · 03/15/2021</a:t>
            </a:r>
            <a:endParaRPr lang="en-US" sz="1300" dirty="0"/>
          </a:p>
          <a:p>
            <a:pPr indent="0" marL="0">
              <a:buNone/>
            </a:pP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1B23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to_datetime bez format= pogađa — i 03/04/2021 tumači kao 4. mart ili 3. april zavisno od raspoloženja.</a:t>
            </a:r>
            <a:endParaRPr lang="en-US" sz="1300" dirty="0"/>
          </a:p>
          <a:p>
            <a:pPr indent="0" marL="0">
              <a:buNone/>
            </a:pP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1B23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Rešenje: parsiraj svaki format eksplicitno, pa fillna() jedan u drugi. Test: neparsirano = 0.</a:t>
            </a:r>
            <a:endParaRPr lang="en-US" sz="1300" dirty="0"/>
          </a:p>
        </p:txBody>
      </p:sp>
      <p:sp>
        <p:nvSpPr>
          <p:cNvPr id="14" name="Shape 10"/>
          <p:cNvSpPr/>
          <p:nvPr/>
        </p:nvSpPr>
        <p:spPr>
          <a:xfrm>
            <a:off x="8127797" y="1645920"/>
            <a:ext cx="3515258" cy="3291840"/>
          </a:xfrm>
          <a:prstGeom prst="roundRect">
            <a:avLst>
              <a:gd name="adj" fmla="val 3333"/>
            </a:avLst>
          </a:prstGeom>
          <a:solidFill>
            <a:srgbClr val="E4EEEA"/>
          </a:solidFill>
          <a:ln w="12700">
            <a:solidFill>
              <a:srgbClr val="E4EEEA"/>
            </a:solidFill>
            <a:prstDash val="solid"/>
          </a:ln>
        </p:spPr>
      </p:sp>
      <p:sp>
        <p:nvSpPr>
          <p:cNvPr id="15" name="Shape 11"/>
          <p:cNvSpPr/>
          <p:nvPr/>
        </p:nvSpPr>
        <p:spPr>
          <a:xfrm>
            <a:off x="8356397" y="1874520"/>
            <a:ext cx="502920" cy="502920"/>
          </a:xfrm>
          <a:prstGeom prst="ellipse">
            <a:avLst/>
          </a:prstGeom>
          <a:solidFill>
            <a:srgbClr val="123C3A"/>
          </a:solidFill>
          <a:ln/>
        </p:spPr>
      </p:sp>
      <p:pic>
        <p:nvPicPr>
          <p:cNvPr id="16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475269" y="1993392"/>
            <a:ext cx="265176" cy="265176"/>
          </a:xfrm>
          <a:prstGeom prst="rect">
            <a:avLst/>
          </a:prstGeom>
        </p:spPr>
      </p:pic>
      <p:sp>
        <p:nvSpPr>
          <p:cNvPr id="17" name="Text 12"/>
          <p:cNvSpPr txBox="1"/>
          <p:nvPr/>
        </p:nvSpPr>
        <p:spPr>
          <a:xfrm>
            <a:off x="8356397" y="2514600"/>
            <a:ext cx="3058058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23C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Nemogući datumi</a:t>
            </a:r>
            <a:endParaRPr lang="en-US" sz="1600" dirty="0"/>
          </a:p>
        </p:txBody>
      </p:sp>
      <p:sp>
        <p:nvSpPr>
          <p:cNvPr id="18" name="Text 13"/>
          <p:cNvSpPr txBox="1"/>
          <p:nvPr/>
        </p:nvSpPr>
        <p:spPr>
          <a:xfrm>
            <a:off x="8356397" y="2926080"/>
            <a:ext cx="3058058" cy="1874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1B23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 aktivacija u 2027. godini — u izvozu iz septembra 2026.</a:t>
            </a:r>
            <a:endParaRPr lang="en-US" sz="1300" dirty="0"/>
          </a:p>
          <a:p>
            <a:pPr indent="0" marL="0">
              <a:buNone/>
            </a:pP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1B23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Datum posle referentnog datuma je greška, ne budućnost.</a:t>
            </a:r>
            <a:endParaRPr lang="en-US" sz="1300" dirty="0"/>
          </a:p>
          <a:p>
            <a:pPr indent="0" marL="0">
              <a:buNone/>
            </a:pP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1B23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Rešenje: NaT, i ponovo izračunaj staž iz preostalih datuma — pa uporedi sa kolonom staz_meseci.</a:t>
            </a:r>
            <a:endParaRPr lang="en-US" sz="1300" dirty="0"/>
          </a:p>
        </p:txBody>
      </p:sp>
      <p:sp>
        <p:nvSpPr>
          <p:cNvPr id="19" name="Shape 14"/>
          <p:cNvSpPr/>
          <p:nvPr/>
        </p:nvSpPr>
        <p:spPr>
          <a:xfrm>
            <a:off x="548640" y="5212080"/>
            <a:ext cx="11094415" cy="868680"/>
          </a:xfrm>
          <a:prstGeom prst="roundRect">
            <a:avLst>
              <a:gd name="adj" fmla="val 10526"/>
            </a:avLst>
          </a:prstGeom>
          <a:solidFill>
            <a:srgbClr val="123C3A"/>
          </a:solidFill>
          <a:ln w="12700">
            <a:solidFill>
              <a:srgbClr val="FBF1DF"/>
            </a:solidFill>
            <a:prstDash val="solid"/>
          </a:ln>
        </p:spPr>
      </p:sp>
      <p:sp>
        <p:nvSpPr>
          <p:cNvPr id="20" name="Shape 15"/>
          <p:cNvSpPr/>
          <p:nvPr/>
        </p:nvSpPr>
        <p:spPr>
          <a:xfrm>
            <a:off x="548640" y="5212080"/>
            <a:ext cx="11094415" cy="868680"/>
          </a:xfrm>
          <a:prstGeom prst="roundRect">
            <a:avLst>
              <a:gd name="adj" fmla="val 10526"/>
            </a:avLst>
          </a:prstGeom>
          <a:solidFill>
            <a:srgbClr val="FBF1DF"/>
          </a:solidFill>
          <a:ln w="12700">
            <a:solidFill>
              <a:srgbClr val="FBF1DF"/>
            </a:solidFill>
            <a:prstDash val="solid"/>
          </a:ln>
        </p:spPr>
      </p:sp>
      <p:sp>
        <p:nvSpPr>
          <p:cNvPr id="21" name="Text 16"/>
          <p:cNvSpPr txBox="1"/>
          <p:nvPr/>
        </p:nvSpPr>
        <p:spPr>
          <a:xfrm>
            <a:off x="822960" y="5212080"/>
            <a:ext cx="10545775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123C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Krajnji tipovi: Int64 (ceo broj koji sme da ima NaN), float64, category, datetime64[ns]. Ne float za godine, ne object za bilo šta.</a:t>
            </a:r>
            <a:endParaRPr lang="en-US" sz="15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411480"/>
            <a:ext cx="11094415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200" b="1" dirty="0">
                <a:solidFill>
                  <a:srgbClr val="123C3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Nemoguće nije isto što i ekstremno</a:t>
            </a:r>
            <a:endParaRPr lang="en-US" sz="3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1170432"/>
            <a:ext cx="11094415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rgbClr val="6B7C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Dve različite pojave, dva različita postupka.</a:t>
            </a:r>
            <a:endParaRPr lang="en-US" sz="15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640080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B7C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P2 · Priprema podataka · Praksa u Data &amp; AI timu</a:t>
            </a:r>
            <a:endParaRPr lang="en-US" sz="1000" dirty="0"/>
          </a:p>
        </p:txBody>
      </p:sp>
      <p:sp>
        <p:nvSpPr>
          <p:cNvPr id="5" name="Shape 3"/>
          <p:cNvSpPr/>
          <p:nvPr/>
        </p:nvSpPr>
        <p:spPr>
          <a:xfrm>
            <a:off x="548640" y="1691640"/>
            <a:ext cx="3515258" cy="4023360"/>
          </a:xfrm>
          <a:prstGeom prst="roundRect">
            <a:avLst>
              <a:gd name="adj" fmla="val 3121"/>
            </a:avLst>
          </a:prstGeom>
          <a:solidFill>
            <a:srgbClr val="F6E4E1"/>
          </a:solidFill>
          <a:ln w="12700">
            <a:solidFill>
              <a:srgbClr val="F6E4E1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777240" y="1920240"/>
            <a:ext cx="3058058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23C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Logički nemoguće</a:t>
            </a:r>
            <a:endParaRPr lang="en-US" sz="1600" dirty="0"/>
          </a:p>
        </p:txBody>
      </p:sp>
      <p:sp>
        <p:nvSpPr>
          <p:cNvPr id="7" name="Text 5"/>
          <p:cNvSpPr txBox="1"/>
          <p:nvPr/>
        </p:nvSpPr>
        <p:spPr>
          <a:xfrm>
            <a:off x="777240" y="2331720"/>
            <a:ext cx="3058058" cy="3246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1B23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godine = −19, 150 · staž = −9 meseci · minuti = 12.000 mesečno (400 minuta dnevno) · potrošnja 999,9 GB · datum u 2027.</a:t>
            </a:r>
            <a:endParaRPr lang="en-US" sz="1300" dirty="0"/>
          </a:p>
          <a:p>
            <a:pPr indent="0" marL="0">
              <a:buNone/>
            </a:pP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1B23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Rečnik podataka kaže koji su opsezi. Ove vrednosti su van njih. Nisu podaci — greške su.</a:t>
            </a:r>
            <a:endParaRPr lang="en-US" sz="1300" dirty="0"/>
          </a:p>
          <a:p>
            <a:pPr indent="0" marL="0">
              <a:buNone/>
            </a:pP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1B23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Postupak: → NaN. Vrstu NE brišeš; ostalih 14 kolona je verovatno ispravno.</a:t>
            </a:r>
            <a:endParaRPr lang="en-US" sz="1300" dirty="0"/>
          </a:p>
          <a:p>
            <a:pPr indent="0" marL="0">
              <a:buNone/>
            </a:pP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1B23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 našem izvozu: 7 + 5 + 8 + 5 + 6 = 31 vrednost.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4338218" y="1691640"/>
            <a:ext cx="3515258" cy="4023360"/>
          </a:xfrm>
          <a:prstGeom prst="roundRect">
            <a:avLst>
              <a:gd name="adj" fmla="val 3121"/>
            </a:avLst>
          </a:prstGeom>
          <a:solidFill>
            <a:srgbClr val="FBF1DF"/>
          </a:solidFill>
          <a:ln w="12700">
            <a:solidFill>
              <a:srgbClr val="FBF1DF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4566818" y="1920240"/>
            <a:ext cx="3058058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23C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Očigledna greška unosa</a:t>
            </a:r>
            <a:endParaRPr lang="en-US" sz="1600" dirty="0"/>
          </a:p>
        </p:txBody>
      </p:sp>
      <p:sp>
        <p:nvSpPr>
          <p:cNvPr id="10" name="Text 8"/>
          <p:cNvSpPr txBox="1"/>
          <p:nvPr/>
        </p:nvSpPr>
        <p:spPr>
          <a:xfrm>
            <a:off x="4566818" y="2331720"/>
            <a:ext cx="3058058" cy="3246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1B23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Devet računa od 25.000–60.000 RSD. Tačno ×10 od tipičnog računa za taj paket — decimalna tačka je pomerena.</a:t>
            </a:r>
            <a:endParaRPr lang="en-US" sz="1300" dirty="0"/>
          </a:p>
          <a:p>
            <a:pPr indent="0" marL="0">
              <a:buNone/>
            </a:pP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1B23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Postupak: korekcija (/10) je opravdana JER se uzrok vidi. Bez vidljivog uzroka, → NaN.</a:t>
            </a:r>
            <a:endParaRPr lang="en-US" sz="1300" dirty="0"/>
          </a:p>
          <a:p>
            <a:pPr indent="0" marL="0">
              <a:buNone/>
            </a:pP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1B23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Ovo je odluka, i ide u dnevnik sa obrazloženjem.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8127797" y="1691640"/>
            <a:ext cx="3515258" cy="4023360"/>
          </a:xfrm>
          <a:prstGeom prst="roundRect">
            <a:avLst>
              <a:gd name="adj" fmla="val 3121"/>
            </a:avLst>
          </a:prstGeom>
          <a:solidFill>
            <a:srgbClr val="E4EEEA"/>
          </a:solidFill>
          <a:ln w="12700">
            <a:solidFill>
              <a:srgbClr val="E4EEEA"/>
            </a:solidFill>
            <a:prstDash val="solid"/>
          </a:ln>
        </p:spPr>
      </p:sp>
      <p:sp>
        <p:nvSpPr>
          <p:cNvPr id="12" name="Text 10"/>
          <p:cNvSpPr txBox="1"/>
          <p:nvPr/>
        </p:nvSpPr>
        <p:spPr>
          <a:xfrm>
            <a:off x="8356397" y="1920240"/>
            <a:ext cx="3058058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23C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Statistički ekstremno</a:t>
            </a:r>
            <a:endParaRPr lang="en-US" sz="1600" dirty="0"/>
          </a:p>
        </p:txBody>
      </p:sp>
      <p:sp>
        <p:nvSpPr>
          <p:cNvPr id="13" name="Text 11"/>
          <p:cNvSpPr txBox="1"/>
          <p:nvPr/>
        </p:nvSpPr>
        <p:spPr>
          <a:xfrm>
            <a:off x="8356397" y="2331720"/>
            <a:ext cx="3058058" cy="3246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1B23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Biznis korisnik sa računom od 9.675 RSD. Student sa 39 GB mesečno.</a:t>
            </a:r>
            <a:endParaRPr lang="en-US" sz="1300" dirty="0"/>
          </a:p>
          <a:p>
            <a:pPr indent="0" marL="0">
              <a:buNone/>
            </a:pP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1B23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Moguće, verovatno tačno, samo retko. IQR pravilo ih označi.</a:t>
            </a:r>
            <a:endParaRPr lang="en-US" sz="1300" dirty="0"/>
          </a:p>
          <a:p>
            <a:pPr indent="0" marL="0">
              <a:buNone/>
            </a:pP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1B23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Postupak: indikatorska kolona (racun_outlier = True). Analiza ih zadržava; neki modeli ih izuzimaju.</a:t>
            </a:r>
            <a:endParaRPr lang="en-US" sz="1300" dirty="0"/>
          </a:p>
          <a:p>
            <a:pPr indent="0" marL="0">
              <a:buNone/>
            </a:pP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1B23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 našem skupu: ~50 za račun, ~44 za GB. Većina outliera na računu su Biznis paketi.</a:t>
            </a:r>
            <a:endParaRPr lang="en-US" sz="13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411480"/>
            <a:ext cx="11094415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200" b="1" dirty="0">
                <a:solidFill>
                  <a:srgbClr val="123C3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Detekcija outliera: IQR i z-score</a:t>
            </a:r>
            <a:endParaRPr lang="en-US" sz="3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640080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B7C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P2 · Priprema podataka · Praksa u Data &amp; AI timu</a:t>
            </a:r>
            <a:endParaRPr lang="en-US" sz="1000" dirty="0"/>
          </a:p>
        </p:txBody>
      </p:sp>
      <p:graphicFrame>
        <p:nvGraphicFramePr>
          <p:cNvPr id="11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600200"/>
          <a:ext cx="11094415" cy="914400"/>
        </p:xfrm>
        <a:graphic>
          <a:graphicData uri="http://schemas.openxmlformats.org/drawingml/2006/table">
            <a:tbl>
              <a:tblPr/>
              <a:tblGrid>
                <a:gridCol w="1737360"/>
                <a:gridCol w="2834640"/>
                <a:gridCol w="2103120"/>
                <a:gridCol w="2468880"/>
                <a:gridCol w="1920240"/>
              </a:tblGrid>
              <a:tr h="5486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Pravilo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50800" marB="50800" anchor="ctr">
                    <a:lnL w="6350" cap="flat" cmpd="sng" algn="ctr">
                      <a:solidFill>
                        <a:srgbClr val="D5D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23C3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Granice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50800" marB="50800" anchor="ctr">
                    <a:lnL w="6350" cap="flat" cmpd="sng" algn="ctr">
                      <a:solidFill>
                        <a:srgbClr val="D5D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23C3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Pretpostavka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50800" marB="50800" anchor="ctr">
                    <a:lnL w="6350" cap="flat" cmpd="sng" algn="ctr">
                      <a:solidFill>
                        <a:srgbClr val="D5D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23C3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Za račun (RSD)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50800" marB="50800" anchor="ctr">
                    <a:lnL w="6350" cap="flat" cmpd="sng" algn="ctr">
                      <a:solidFill>
                        <a:srgbClr val="D5D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23C3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Kada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50800" marB="50800" anchor="ctr">
                    <a:lnL w="6350" cap="flat" cmpd="sng" algn="ctr">
                      <a:solidFill>
                        <a:srgbClr val="D5D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23C3A"/>
                    </a:solidFill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B232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IQR (Tukey)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50800" marB="50800" anchor="ctr">
                    <a:lnL w="6350" cap="flat" cmpd="sng" algn="ctr">
                      <a:solidFill>
                        <a:srgbClr val="D5D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B232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&lt; Q1 − 1,5·IQR ili &gt; Q3 + 1,5·IQR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50800" marB="50800" anchor="ctr">
                    <a:lnL w="6350" cap="flat" cmpd="sng" algn="ctr">
                      <a:solidFill>
                        <a:srgbClr val="D5D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B232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Nikakva o raspodeli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50800" marB="50800" anchor="ctr">
                    <a:lnL w="6350" cap="flat" cmpd="sng" algn="ctr">
                      <a:solidFill>
                        <a:srgbClr val="D5D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B232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&lt; −1.835 (nema) / &gt; 6.739 → ~50 vrsta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50800" marB="50800" anchor="ctr">
                    <a:lnL w="6350" cap="flat" cmpd="sng" algn="ctr">
                      <a:solidFill>
                        <a:srgbClr val="D5D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B232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Podrazumevano; asimetrični podaci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50800" marB="50800" anchor="ctr">
                    <a:lnL w="6350" cap="flat" cmpd="sng" algn="ctr">
                      <a:solidFill>
                        <a:srgbClr val="D5D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B232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z-score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50800" marB="50800" anchor="ctr">
                    <a:lnL w="6350" cap="flat" cmpd="sng" algn="ctr">
                      <a:solidFill>
                        <a:srgbClr val="D5D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3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B232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|x − x̄| / s &gt; 3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50800" marB="50800" anchor="ctr">
                    <a:lnL w="6350" cap="flat" cmpd="sng" algn="ctr">
                      <a:solidFill>
                        <a:srgbClr val="D5D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3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B232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Približno normalna raspodela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50800" marB="50800" anchor="ctr">
                    <a:lnL w="6350" cap="flat" cmpd="sng" algn="ctr">
                      <a:solidFill>
                        <a:srgbClr val="D5D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3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B232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&gt; 7.820 → ~12 vrsta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50800" marB="50800" anchor="ctr">
                    <a:lnL w="6350" cap="flat" cmpd="sng" algn="ctr">
                      <a:solidFill>
                        <a:srgbClr val="D5D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3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B232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Simetrični podaci bez ekstrema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50800" marB="50800" anchor="ctr">
                    <a:lnL w="6350" cap="flat" cmpd="sng" algn="ctr">
                      <a:solidFill>
                        <a:srgbClr val="D5D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3"/>
                    </a:solidFill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B232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Robusni z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50800" marB="50800" anchor="ctr">
                    <a:lnL w="6350" cap="flat" cmpd="sng" algn="ctr">
                      <a:solidFill>
                        <a:srgbClr val="D5D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B232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|x − medijana| / MAD &gt; 3,5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50800" marB="50800" anchor="ctr">
                    <a:lnL w="6350" cap="flat" cmpd="sng" algn="ctr">
                      <a:solidFill>
                        <a:srgbClr val="D5D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B232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Nikakva; otporan na same outliere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50800" marB="50800" anchor="ctr">
                    <a:lnL w="6350" cap="flat" cmpd="sng" algn="ctr">
                      <a:solidFill>
                        <a:srgbClr val="D5D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B232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slično IQR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50800" marB="50800" anchor="ctr">
                    <a:lnL w="6350" cap="flat" cmpd="sng" algn="ctr">
                      <a:solidFill>
                        <a:srgbClr val="D5D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B232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Kad outlieri kvare s i x̄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50800" marB="50800" anchor="ctr">
                    <a:lnL w="6350" cap="flat" cmpd="sng" algn="ctr">
                      <a:solidFill>
                        <a:srgbClr val="D5D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B232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Domensko pravilo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50800" marB="50800" anchor="ctr">
                    <a:lnL w="6350" cap="flat" cmpd="sng" algn="ctr">
                      <a:solidFill>
                        <a:srgbClr val="D5D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3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B232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Iz rečnika podataka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50800" marB="50800" anchor="ctr">
                    <a:lnL w="6350" cap="flat" cmpd="sng" algn="ctr">
                      <a:solidFill>
                        <a:srgbClr val="D5D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3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B232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Znanje o procesu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50800" marB="50800" anchor="ctr">
                    <a:lnL w="6350" cap="flat" cmpd="sng" algn="ctr">
                      <a:solidFill>
                        <a:srgbClr val="D5D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3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B232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&gt; 150 GB, &lt; 18 godina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50800" marB="50800" anchor="ctr">
                    <a:lnL w="6350" cap="flat" cmpd="sng" algn="ctr">
                      <a:solidFill>
                        <a:srgbClr val="D5D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3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B232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Uvek prvo — pre statistike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50800" marB="50800" anchor="ctr">
                    <a:lnL w="6350" cap="flat" cmpd="sng" algn="ctr">
                      <a:solidFill>
                        <a:srgbClr val="D5D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3"/>
                    </a:solidFill>
                  </a:tcPr>
                </a:tc>
              </a:tr>
            </a:tbl>
          </a:graphicData>
        </a:graphic>
      </p:graphicFrame>
      <p:sp>
        <p:nvSpPr>
          <p:cNvPr id="5" name="Text 2"/>
          <p:cNvSpPr txBox="1"/>
          <p:nvPr/>
        </p:nvSpPr>
        <p:spPr>
          <a:xfrm>
            <a:off x="548640" y="4572000"/>
            <a:ext cx="1106424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>
              <a:spcAft>
                <a:spcPts val="800"/>
              </a:spcAft>
              <a:buSzPct val="100000"/>
              <a:buChar char="•"/>
            </a:pPr>
            <a:r>
              <a:rPr lang="en-US" sz="1250" dirty="0">
                <a:solidFill>
                  <a:srgbClr val="1B23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z-score koristi sredinu i std — koje sami outlieri iskrivljuju. Na sirovim podacima o GB (std 60,9) z-score ne vidi ni jedan od pet unosa od 850+ GB kao problem... jer su oni podigli std.</a:t>
            </a:r>
            <a:endParaRPr lang="en-US" sz="1250" dirty="0"/>
          </a:p>
          <a:p>
            <a:pPr marL="177800" indent="-177800">
              <a:spcAft>
                <a:spcPts val="800"/>
              </a:spcAft>
              <a:buSzPct val="100000"/>
              <a:buChar char="•"/>
            </a:pPr>
            <a:r>
              <a:rPr lang="en-US" sz="1250" dirty="0">
                <a:solidFill>
                  <a:srgbClr val="1B23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IQR daje više „outliera“ na desno asimetričnim kolonama — to nije greška metode nego oblik podataka. Zato označavaš, ne brišeš.</a:t>
            </a:r>
            <a:endParaRPr lang="en-US" sz="1250" dirty="0"/>
          </a:p>
          <a:p>
            <a:pPr marL="177800" indent="-177800">
              <a:spcAft>
                <a:spcPts val="800"/>
              </a:spcAft>
              <a:buSzPct val="100000"/>
              <a:buChar char="•"/>
            </a:pPr>
            <a:r>
              <a:rPr lang="en-US" sz="1250" dirty="0">
                <a:solidFill>
                  <a:srgbClr val="1B23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Multivarijatni outlier: račun 1.300 RSD je normalan, 40 GB je normalno — prepaid korisnik sa oba je čudan. Za to: scatter po grupi, kasnije Mahalanobis / Isolation Forest.</a:t>
            </a:r>
            <a:endParaRPr lang="en-US" sz="125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411480"/>
            <a:ext cx="11094415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200" b="1" dirty="0">
                <a:solidFill>
                  <a:srgbClr val="123C3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Imputacija: naše odluke i obrazloženja</a:t>
            </a:r>
            <a:endParaRPr lang="en-US" sz="3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1170432"/>
            <a:ext cx="11094415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rgbClr val="6B7C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Ovako izgleda deo dnevnika čišćenja koji mentor očekuje.</a:t>
            </a:r>
            <a:endParaRPr lang="en-US" sz="15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640080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B7C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P2 · Priprema podataka · Praksa u Data &amp; AI timu</a:t>
            </a:r>
            <a:endParaRPr lang="en-US" sz="1000" dirty="0"/>
          </a:p>
        </p:txBody>
      </p:sp>
      <p:graphicFrame>
        <p:nvGraphicFramePr>
          <p:cNvPr id="12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691640"/>
          <a:ext cx="11094415" cy="914400"/>
        </p:xfrm>
        <a:graphic>
          <a:graphicData uri="http://schemas.openxmlformats.org/drawingml/2006/table">
            <a:tbl>
              <a:tblPr/>
              <a:tblGrid>
                <a:gridCol w="2194560"/>
                <a:gridCol w="1005840"/>
                <a:gridCol w="2743200"/>
                <a:gridCol w="5120640"/>
              </a:tblGrid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Kolona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50800" marB="50800" anchor="ctr">
                    <a:lnL w="6350" cap="flat" cmpd="sng" algn="ctr">
                      <a:solidFill>
                        <a:srgbClr val="D5D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23C3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NaN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50800" marB="50800" anchor="ctr">
                    <a:lnL w="6350" cap="flat" cmpd="sng" algn="ctr">
                      <a:solidFill>
                        <a:srgbClr val="D5D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23C3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Odluka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50800" marB="50800" anchor="ctr">
                    <a:lnL w="6350" cap="flat" cmpd="sng" algn="ctr">
                      <a:solidFill>
                        <a:srgbClr val="D5D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23C3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Obrazloženje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50800" marB="50800" anchor="ctr">
                    <a:lnL w="6350" cap="flat" cmpd="sng" algn="ctr">
                      <a:solidFill>
                        <a:srgbClr val="D5D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23C3A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1B232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godine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50800" marB="50800" anchor="ctr">
                    <a:lnL w="6350" cap="flat" cmpd="sng" algn="ctr">
                      <a:solidFill>
                        <a:srgbClr val="D5D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1B232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48 + 7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50800" marB="50800" anchor="ctr">
                    <a:lnL w="6350" cap="flat" cmpd="sng" algn="ctr">
                      <a:solidFill>
                        <a:srgbClr val="D5D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1B232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medijana po tip_paketa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50800" marB="50800" anchor="ctr">
                    <a:lnL w="6350" cap="flat" cmpd="sng" algn="ctr">
                      <a:solidFill>
                        <a:srgbClr val="D5D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1B232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Godine se razlikuju po paketu (biznis stariji); medijana jer je robusna; indikator godine_imputirano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50800" marB="50800" anchor="ctr">
                    <a:lnL w="6350" cap="flat" cmpd="sng" algn="ctr">
                      <a:solidFill>
                        <a:srgbClr val="D5D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1B232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mesecni_racun_rsd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50800" marB="50800" anchor="ctr">
                    <a:lnL w="6350" cap="flat" cmpd="sng" algn="ctr">
                      <a:solidFill>
                        <a:srgbClr val="D5D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3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1B232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36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50800" marB="50800" anchor="ctr">
                    <a:lnL w="6350" cap="flat" cmpd="sng" algn="ctr">
                      <a:solidFill>
                        <a:srgbClr val="D5D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3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1B232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medijana po tip_paketa × region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50800" marB="50800" anchor="ctr">
                    <a:lnL w="6350" cap="flat" cmpd="sng" algn="ctr">
                      <a:solidFill>
                        <a:srgbClr val="D5D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3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1B232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Račun zavisi od oba; Beograd +10%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50800" marB="50800" anchor="ctr">
                    <a:lnL w="6350" cap="flat" cmpd="sng" algn="ctr">
                      <a:solidFill>
                        <a:srgbClr val="D5D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3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1B232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potrosnja_gb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50800" marB="50800" anchor="ctr">
                    <a:lnL w="6350" cap="flat" cmpd="sng" algn="ctr">
                      <a:solidFill>
                        <a:srgbClr val="D5D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1B232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36 + 5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50800" marB="50800" anchor="ctr">
                    <a:lnL w="6350" cap="flat" cmpd="sng" algn="ctr">
                      <a:solidFill>
                        <a:srgbClr val="D5D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1B232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medijana po tip_paketa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50800" marB="50800" anchor="ctr">
                    <a:lnL w="6350" cap="flat" cmpd="sng" algn="ctr">
                      <a:solidFill>
                        <a:srgbClr val="D5D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1B232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Izrazito asimetrična — sredina bi bila pogrešna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50800" marB="50800" anchor="ctr">
                    <a:lnL w="6350" cap="flat" cmpd="sng" algn="ctr">
                      <a:solidFill>
                        <a:srgbClr val="D5D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1B232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staz_meseci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50800" marB="50800" anchor="ctr">
                    <a:lnL w="6350" cap="flat" cmpd="sng" algn="ctr">
                      <a:solidFill>
                        <a:srgbClr val="D5D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3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1B232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5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50800" marB="50800" anchor="ctr">
                    <a:lnL w="6350" cap="flat" cmpd="sng" algn="ctr">
                      <a:solidFill>
                        <a:srgbClr val="D5D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3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1B232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iz datum_aktivacije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50800" marB="50800" anchor="ctr">
                    <a:lnL w="6350" cap="flat" cmpd="sng" algn="ctr">
                      <a:solidFill>
                        <a:srgbClr val="D5D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3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1B232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Postoji izvor istine — nije nagađanje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50800" marB="50800" anchor="ctr">
                    <a:lnL w="6350" cap="flat" cmpd="sng" algn="ctr">
                      <a:solidFill>
                        <a:srgbClr val="D5D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3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1B232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minuti_poziva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50800" marB="50800" anchor="ctr">
                    <a:lnL w="6350" cap="flat" cmpd="sng" algn="ctr">
                      <a:solidFill>
                        <a:srgbClr val="D5D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1B232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8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50800" marB="50800" anchor="ctr">
                    <a:lnL w="6350" cap="flat" cmpd="sng" algn="ctr">
                      <a:solidFill>
                        <a:srgbClr val="D5D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1B232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medijana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50800" marB="50800" anchor="ctr">
                    <a:lnL w="6350" cap="flat" cmpd="sng" algn="ctr">
                      <a:solidFill>
                        <a:srgbClr val="D5D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1B232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Mali broj, simetrična raspodela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50800" marB="50800" anchor="ctr">
                    <a:lnL w="6350" cap="flat" cmpd="sng" algn="ctr">
                      <a:solidFill>
                        <a:srgbClr val="D5D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1B232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ocena_zadovoljstva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50800" marB="50800" anchor="ctr">
                    <a:lnL w="6350" cap="flat" cmpd="sng" algn="ctr">
                      <a:solidFill>
                        <a:srgbClr val="D5D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3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1B232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96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50800" marB="50800" anchor="ctr">
                    <a:lnL w="6350" cap="flat" cmpd="sng" algn="ctr">
                      <a:solidFill>
                        <a:srgbClr val="D5D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3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1B232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ostaje NaN + ocena_poznata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50800" marB="50800" anchor="ctr">
                    <a:lnL w="6350" cap="flat" cmpd="sng" algn="ctr">
                      <a:solidFill>
                        <a:srgbClr val="D5D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3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1B232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Verovatno MNAR (nezadovoljni ne odgovaraju); ciljna varijabla hipoteze — imputacija bi izmislila efekat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50800" marB="50800" anchor="ctr">
                    <a:lnL w="6350" cap="flat" cmpd="sng" algn="ctr">
                      <a:solidFill>
                        <a:srgbClr val="D5D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3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1B232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region, kanal_prodaje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50800" marB="50800" anchor="ctr">
                    <a:lnL w="6350" cap="flat" cmpd="sng" algn="ctr">
                      <a:solidFill>
                        <a:srgbClr val="D5D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1B232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24, 12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50800" marB="50800" anchor="ctr">
                    <a:lnL w="6350" cap="flat" cmpd="sng" algn="ctr">
                      <a:solidFill>
                        <a:srgbClr val="D5D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1B232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kategorija „Nepoznato“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50800" marB="50800" anchor="ctr">
                    <a:lnL w="6350" cap="flat" cmpd="sng" algn="ctr">
                      <a:solidFill>
                        <a:srgbClr val="D5D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1B232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Nominalne; „Nepoznato“ je legitimna kategorija i ostaje vidljiva u analizi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50800" marB="50800" anchor="ctr">
                    <a:lnL w="6350" cap="flat" cmpd="sng" algn="ctr">
                      <a:solidFill>
                        <a:srgbClr val="D5D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411480"/>
            <a:ext cx="11094415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200" b="1" dirty="0">
                <a:solidFill>
                  <a:srgbClr val="123C3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Skaliranje i enkodiranje: priprema za modele</a:t>
            </a:r>
            <a:endParaRPr lang="en-US" sz="3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1170432"/>
            <a:ext cx="11094415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rgbClr val="6B7C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 ovom zadatku nije obavezno, ali sledeći korak posle EDA jeste model churn-a.</a:t>
            </a:r>
            <a:endParaRPr lang="en-US" sz="15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640080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B7C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P2 · Priprema podataka · Praksa u Data &amp; AI timu</a:t>
            </a:r>
            <a:endParaRPr lang="en-US" sz="1000" dirty="0"/>
          </a:p>
        </p:txBody>
      </p:sp>
      <p:graphicFrame>
        <p:nvGraphicFramePr>
          <p:cNvPr id="13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645920"/>
          <a:ext cx="11094415" cy="914400"/>
        </p:xfrm>
        <a:graphic>
          <a:graphicData uri="http://schemas.openxmlformats.org/drawingml/2006/table">
            <a:tbl>
              <a:tblPr/>
              <a:tblGrid>
                <a:gridCol w="2103120"/>
                <a:gridCol w="2743200"/>
                <a:gridCol w="3200400"/>
                <a:gridCol w="3017520"/>
              </a:tblGrid>
              <a:tr h="5029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Tehnika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50800" marB="50800" anchor="ctr">
                    <a:lnL w="6350" cap="flat" cmpd="sng" algn="ctr">
                      <a:solidFill>
                        <a:srgbClr val="D5D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23C3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Formula / princip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50800" marB="50800" anchor="ctr">
                    <a:lnL w="6350" cap="flat" cmpd="sng" algn="ctr">
                      <a:solidFill>
                        <a:srgbClr val="D5D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23C3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Kada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50800" marB="50800" anchor="ctr">
                    <a:lnL w="6350" cap="flat" cmpd="sng" algn="ctr">
                      <a:solidFill>
                        <a:srgbClr val="D5D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23C3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Pazi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50800" marB="50800" anchor="ctr">
                    <a:lnL w="6350" cap="flat" cmpd="sng" algn="ctr">
                      <a:solidFill>
                        <a:srgbClr val="D5D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23C3A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1B232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Min-max skaliranje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50800" marB="50800" anchor="ctr">
                    <a:lnL w="6350" cap="flat" cmpd="sng" algn="ctr">
                      <a:solidFill>
                        <a:srgbClr val="D5D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1B232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(x − min) / (max − min) → [0, 1]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50800" marB="50800" anchor="ctr">
                    <a:lnL w="6350" cap="flat" cmpd="sng" algn="ctr">
                      <a:solidFill>
                        <a:srgbClr val="D5D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1B232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Algoritmi zasnovani na rastojanju (kNN, neuronske mreže)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50800" marB="50800" anchor="ctr">
                    <a:lnL w="6350" cap="flat" cmpd="sng" algn="ctr">
                      <a:solidFill>
                        <a:srgbClr val="D5D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1B232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Jedan outlier sabije sve ostalo u uzak opseg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50800" marB="50800" anchor="ctr">
                    <a:lnL w="6350" cap="flat" cmpd="sng" algn="ctr">
                      <a:solidFill>
                        <a:srgbClr val="D5D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1B232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Standardizacija (z)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50800" marB="50800" anchor="ctr">
                    <a:lnL w="6350" cap="flat" cmpd="sng" algn="ctr">
                      <a:solidFill>
                        <a:srgbClr val="D5D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3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1B232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(x − x̄) / s → sredina 0, std 1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50800" marB="50800" anchor="ctr">
                    <a:lnL w="6350" cap="flat" cmpd="sng" algn="ctr">
                      <a:solidFill>
                        <a:srgbClr val="D5D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3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1B232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Linearni modeli, PCA, logistička regresija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50800" marB="50800" anchor="ctr">
                    <a:lnL w="6350" cap="flat" cmpd="sng" algn="ctr">
                      <a:solidFill>
                        <a:srgbClr val="D5D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3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1B232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Pretpostavlja približnu simetriju; log-transformiši račun i GB pre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50800" marB="50800" anchor="ctr">
                    <a:lnL w="6350" cap="flat" cmpd="sng" algn="ctr">
                      <a:solidFill>
                        <a:srgbClr val="D5D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3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1B232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Log transformacija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50800" marB="50800" anchor="ctr">
                    <a:lnL w="6350" cap="flat" cmpd="sng" algn="ctr">
                      <a:solidFill>
                        <a:srgbClr val="D5D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1B232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log(1 + x)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50800" marB="50800" anchor="ctr">
                    <a:lnL w="6350" cap="flat" cmpd="sng" algn="ctr">
                      <a:solidFill>
                        <a:srgbClr val="D5D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1B232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Desno asimetrične veličine (račun, GB, staž)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50800" marB="50800" anchor="ctr">
                    <a:lnL w="6350" cap="flat" cmpd="sng" algn="ctr">
                      <a:solidFill>
                        <a:srgbClr val="D5D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1B232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Samo za x ≥ 0; tumačenje koeficijenata postaje multiplikativno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50800" marB="50800" anchor="ctr">
                    <a:lnL w="6350" cap="flat" cmpd="sng" algn="ctr">
                      <a:solidFill>
                        <a:srgbClr val="D5D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1B232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One-hot enkodiranje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50800" marB="50800" anchor="ctr">
                    <a:lnL w="6350" cap="flat" cmpd="sng" algn="ctr">
                      <a:solidFill>
                        <a:srgbClr val="D5D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3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1B232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Jedna 0/1 kolona po kategoriji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50800" marB="50800" anchor="ctr">
                    <a:lnL w="6350" cap="flat" cmpd="sng" algn="ctr">
                      <a:solidFill>
                        <a:srgbClr val="D5D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3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1B232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Nominalne: region, tip_paketa, kanal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50800" marB="50800" anchor="ctr">
                    <a:lnL w="6350" cap="flat" cmpd="sng" algn="ctr">
                      <a:solidFill>
                        <a:srgbClr val="D5D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3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1B232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Kod k kategorija izbaci jednu (dummy trap) za linearne modele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50800" marB="50800" anchor="ctr">
                    <a:lnL w="6350" cap="flat" cmpd="sng" algn="ctr">
                      <a:solidFill>
                        <a:srgbClr val="D5D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3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1B232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Ordinalno enkodiranje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50800" marB="50800" anchor="ctr">
                    <a:lnL w="6350" cap="flat" cmpd="sng" algn="ctr">
                      <a:solidFill>
                        <a:srgbClr val="D5D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1B232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Kategorija → ceo broj po redosledu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50800" marB="50800" anchor="ctr">
                    <a:lnL w="6350" cap="flat" cmpd="sng" algn="ctr">
                      <a:solidFill>
                        <a:srgbClr val="D5D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1B232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Ordinalne: ocena 1–5, staz_grupa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50800" marB="50800" anchor="ctr">
                    <a:lnL w="6350" cap="flat" cmpd="sng" algn="ctr">
                      <a:solidFill>
                        <a:srgbClr val="D5D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1B232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Nikad za nominalne — Beograd nije „veći“ od Vojvodine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50800" marB="50800" anchor="ctr">
                    <a:lnL w="6350" cap="flat" cmpd="sng" algn="ctr">
                      <a:solidFill>
                        <a:srgbClr val="D5D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1B232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Binning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50800" marB="50800" anchor="ctr">
                    <a:lnL w="6350" cap="flat" cmpd="sng" algn="ctr">
                      <a:solidFill>
                        <a:srgbClr val="D5D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3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1B232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Neprekidna → intervali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50800" marB="50800" anchor="ctr">
                    <a:lnL w="6350" cap="flat" cmpd="sng" algn="ctr">
                      <a:solidFill>
                        <a:srgbClr val="D5D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3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1B232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starosna_grupa, staz_grupa za segmentaciju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50800" marB="50800" anchor="ctr">
                    <a:lnL w="6350" cap="flat" cmpd="sng" algn="ctr">
                      <a:solidFill>
                        <a:srgbClr val="D5D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3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1B232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Gubi informaciju; granice obrazloži (poslovno ili kvantili)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50800" marB="50800" anchor="ctr">
                    <a:lnL w="6350" cap="flat" cmpd="sng" algn="ctr">
                      <a:solidFill>
                        <a:srgbClr val="D5D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3"/>
                    </a:solidFill>
                  </a:tcPr>
                </a:tc>
              </a:tr>
            </a:tbl>
          </a:graphicData>
        </a:graphic>
      </p:graphicFrame>
      <p:sp>
        <p:nvSpPr>
          <p:cNvPr id="6" name="Shape 3"/>
          <p:cNvSpPr/>
          <p:nvPr/>
        </p:nvSpPr>
        <p:spPr>
          <a:xfrm>
            <a:off x="548640" y="5440680"/>
            <a:ext cx="11094415" cy="777240"/>
          </a:xfrm>
          <a:prstGeom prst="roundRect">
            <a:avLst>
              <a:gd name="adj" fmla="val 11765"/>
            </a:avLst>
          </a:prstGeom>
          <a:solidFill>
            <a:srgbClr val="123C3A"/>
          </a:solidFill>
          <a:ln w="12700">
            <a:solidFill>
              <a:srgbClr val="FBF1DF"/>
            </a:solidFill>
            <a:prstDash val="solid"/>
          </a:ln>
        </p:spPr>
      </p:sp>
      <p:sp>
        <p:nvSpPr>
          <p:cNvPr id="7" name="Shape 4"/>
          <p:cNvSpPr/>
          <p:nvPr/>
        </p:nvSpPr>
        <p:spPr>
          <a:xfrm>
            <a:off x="548640" y="5440680"/>
            <a:ext cx="11094415" cy="777240"/>
          </a:xfrm>
          <a:prstGeom prst="roundRect">
            <a:avLst>
              <a:gd name="adj" fmla="val 11765"/>
            </a:avLst>
          </a:prstGeom>
          <a:solidFill>
            <a:srgbClr val="FBF1DF"/>
          </a:solidFill>
          <a:ln w="12700">
            <a:solidFill>
              <a:srgbClr val="FBF1DF"/>
            </a:solidFill>
            <a:prstDash val="solid"/>
          </a:ln>
        </p:spPr>
      </p:sp>
      <p:sp>
        <p:nvSpPr>
          <p:cNvPr id="8" name="Text 5"/>
          <p:cNvSpPr txBox="1"/>
          <p:nvPr/>
        </p:nvSpPr>
        <p:spPr>
          <a:xfrm>
            <a:off x="822960" y="5440680"/>
            <a:ext cx="10545775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23C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Skaliranje se uči na train skupu i primenjuje na test — nikad na celom skupu. Za EDA i izveštaj ostavi originalne jedinice: menadžment razume dinare, ne z-vrednosti.</a:t>
            </a:r>
            <a:endParaRPr lang="en-US" sz="13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411480"/>
            <a:ext cx="11094415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200" b="1" dirty="0">
                <a:solidFill>
                  <a:srgbClr val="123C3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Dnevnik čišćenja: tri kolone koje čine rad ponovljivim</a:t>
            </a:r>
            <a:endParaRPr lang="en-US" sz="3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640080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B7C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P2 · Priprema podataka · Praksa u Data &amp; AI timu</a:t>
            </a:r>
            <a:endParaRPr lang="en-US" sz="1000" dirty="0"/>
          </a:p>
        </p:txBody>
      </p:sp>
      <p:graphicFrame>
        <p:nvGraphicFramePr>
          <p:cNvPr id="14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600200"/>
          <a:ext cx="11094415" cy="914400"/>
        </p:xfrm>
        <a:graphic>
          <a:graphicData uri="http://schemas.openxmlformats.org/drawingml/2006/table">
            <a:tbl>
              <a:tblPr/>
              <a:tblGrid>
                <a:gridCol w="365760"/>
                <a:gridCol w="3840480"/>
                <a:gridCol w="2926080"/>
                <a:gridCol w="3931920"/>
              </a:tblGrid>
              <a:tr h="5029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#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50800" marB="50800" anchor="ctr">
                    <a:lnL w="6350" cap="flat" cmpd="sng" algn="ctr">
                      <a:solidFill>
                        <a:srgbClr val="D5D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23C3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Nalaz (šta i koliko)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50800" marB="50800" anchor="ctr">
                    <a:lnL w="6350" cap="flat" cmpd="sng" algn="ctr">
                      <a:solidFill>
                        <a:srgbClr val="D5D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23C3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Akcija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50800" marB="50800" anchor="ctr">
                    <a:lnL w="6350" cap="flat" cmpd="sng" algn="ctr">
                      <a:solidFill>
                        <a:srgbClr val="D5D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23C3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Obrazloženje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50800" marB="50800" anchor="ctr">
                    <a:lnL w="6350" cap="flat" cmpd="sng" algn="ctr">
                      <a:solidFill>
                        <a:srgbClr val="D5D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23C3A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1B232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50800" marB="50800" anchor="ctr">
                    <a:lnL w="6350" cap="flat" cmpd="sng" algn="ctr">
                      <a:solidFill>
                        <a:srgbClr val="D5D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1B232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region: 17 vrednosti umesto 4 (52 nestandardne + 24 NaN)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50800" marB="50800" anchor="ctr">
                    <a:lnL w="6350" cap="flat" cmpd="sng" algn="ctr">
                      <a:solidFill>
                        <a:srgbClr val="D5D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1B232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strip + lower + mapa na 4 kanonske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50800" marB="50800" anchor="ctr">
                    <a:lnL w="6350" cap="flat" cmpd="sng" algn="ctr">
                      <a:solidFill>
                        <a:srgbClr val="D5D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1B232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Rečnik podataka definiše dozvoljene; test: NaN posle = 24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50800" marB="50800" anchor="ctr">
                    <a:lnL w="6350" cap="flat" cmpd="sng" algn="ctr">
                      <a:solidFill>
                        <a:srgbClr val="D5D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1B232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50800" marB="50800" anchor="ctr">
                    <a:lnL w="6350" cap="flat" cmpd="sng" algn="ctr">
                      <a:solidFill>
                        <a:srgbClr val="D5D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3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1B232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22 potpuna duplikata; posle standardizacije 32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50800" marB="50800" anchor="ctr">
                    <a:lnL w="6350" cap="flat" cmpd="sng" algn="ctr">
                      <a:solidFill>
                        <a:srgbClr val="D5D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3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1B232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drop_duplicates() → 1.200 vrsta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50800" marB="50800" anchor="ctr">
                    <a:lnL w="6350" cap="flat" cmpd="sng" algn="ctr">
                      <a:solidFill>
                        <a:srgbClr val="D5D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3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1B232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1.200 = broj jedinstvenih ID-jeva; nijedan ID nije ostao dupliran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50800" marB="50800" anchor="ctr">
                    <a:lnL w="6350" cap="flat" cmpd="sng" algn="ctr">
                      <a:solidFill>
                        <a:srgbClr val="D5D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3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1B232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50800" marB="50800" anchor="ctr">
                    <a:lnL w="6350" cap="flat" cmpd="sng" algn="ctr">
                      <a:solidFill>
                        <a:srgbClr val="D5D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1B232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mesecni_racun_rsd: 34 tekstualna unosa u 3 formata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50800" marB="50800" anchor="ctr">
                    <a:lnL w="6350" cap="flat" cmpd="sng" algn="ctr">
                      <a:solidFill>
                        <a:srgbClr val="D5D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1B232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u_broj(); float64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50800" marB="50800" anchor="ctr">
                    <a:lnL w="6350" cap="flat" cmpd="sng" algn="ctr">
                      <a:solidFill>
                        <a:srgbClr val="D5D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1B232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NaN pre = NaN posle = 36 → ništa izgubljeno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50800" marB="50800" anchor="ctr">
                    <a:lnL w="6350" cap="flat" cmpd="sng" algn="ctr">
                      <a:solidFill>
                        <a:srgbClr val="D5D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1B232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50800" marB="50800" anchor="ctr">
                    <a:lnL w="6350" cap="flat" cmpd="sng" algn="ctr">
                      <a:solidFill>
                        <a:srgbClr val="D5D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3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1B232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9 računa 25.000–60.000 RSD, ×10 od medijane paketa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50800" marB="50800" anchor="ctr">
                    <a:lnL w="6350" cap="flat" cmpd="sng" algn="ctr">
                      <a:solidFill>
                        <a:srgbClr val="D5D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3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1B232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korigovano /10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50800" marB="50800" anchor="ctr">
                    <a:lnL w="6350" cap="flat" cmpd="sng" algn="ctr">
                      <a:solidFill>
                        <a:srgbClr val="D5D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3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1B232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Očigledna greška decimale; korekcija bolja od NaN jer uzrok vidljiv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50800" marB="50800" anchor="ctr">
                    <a:lnL w="6350" cap="flat" cmpd="sng" algn="ctr">
                      <a:solidFill>
                        <a:srgbClr val="D5D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3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1B232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5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50800" marB="50800" anchor="ctr">
                    <a:lnL w="6350" cap="flat" cmpd="sng" algn="ctr">
                      <a:solidFill>
                        <a:srgbClr val="D5D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1B232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ocena_zadovoljstva: 96 NaN (8%)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50800" marB="50800" anchor="ctr">
                    <a:lnL w="6350" cap="flat" cmpd="sng" algn="ctr">
                      <a:solidFill>
                        <a:srgbClr val="D5D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1B232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bez imputacije; ocena_poznata flag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50800" marB="50800" anchor="ctr">
                    <a:lnL w="6350" cap="flat" cmpd="sng" algn="ctr">
                      <a:solidFill>
                        <a:srgbClr val="D5D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1B232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MNAR; ciljna varijabla H-testa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50800" marB="50800" anchor="ctr">
                    <a:lnL w="6350" cap="flat" cmpd="sng" algn="ctr">
                      <a:solidFill>
                        <a:srgbClr val="D5D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5" name="Shape 2"/>
          <p:cNvSpPr/>
          <p:nvPr/>
        </p:nvSpPr>
        <p:spPr>
          <a:xfrm>
            <a:off x="548640" y="5029200"/>
            <a:ext cx="713232" cy="713232"/>
          </a:xfrm>
          <a:prstGeom prst="ellipse">
            <a:avLst/>
          </a:prstGeom>
          <a:solidFill>
            <a:srgbClr val="7FA99B"/>
          </a:solidFill>
          <a:ln/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22376" y="5202936"/>
            <a:ext cx="365760" cy="365760"/>
          </a:xfrm>
          <a:prstGeom prst="rect">
            <a:avLst/>
          </a:prstGeom>
        </p:spPr>
      </p:pic>
      <p:sp>
        <p:nvSpPr>
          <p:cNvPr id="7" name="Text 3"/>
          <p:cNvSpPr txBox="1"/>
          <p:nvPr/>
        </p:nvSpPr>
        <p:spPr>
          <a:xfrm>
            <a:off x="1508760" y="4983480"/>
            <a:ext cx="101041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23C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Test ponovljivosti</a:t>
            </a:r>
            <a:endParaRPr lang="en-US" sz="1700" dirty="0"/>
          </a:p>
        </p:txBody>
      </p:sp>
      <p:sp>
        <p:nvSpPr>
          <p:cNvPr id="8" name="Text 4"/>
          <p:cNvSpPr txBox="1"/>
          <p:nvPr/>
        </p:nvSpPr>
        <p:spPr>
          <a:xfrm>
            <a:off x="1508760" y="5330952"/>
            <a:ext cx="101041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1B23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Restart &amp; Run All na notebooku daje isti CSV do poslednje ćelije. Ako ne — nešto zavisi od redosleda ručnih koraka.</a:t>
            </a:r>
            <a:endParaRPr lang="en-US" sz="1400" dirty="0"/>
          </a:p>
        </p:txBody>
      </p:sp>
      <p:sp>
        <p:nvSpPr>
          <p:cNvPr id="9" name="Shape 5"/>
          <p:cNvSpPr/>
          <p:nvPr/>
        </p:nvSpPr>
        <p:spPr>
          <a:xfrm>
            <a:off x="548640" y="5687568"/>
            <a:ext cx="713232" cy="713232"/>
          </a:xfrm>
          <a:prstGeom prst="ellipse">
            <a:avLst/>
          </a:prstGeom>
          <a:solidFill>
            <a:srgbClr val="7FA99B"/>
          </a:solidFill>
          <a:ln/>
        </p:spPr>
      </p:sp>
      <p:pic>
        <p:nvPicPr>
          <p:cNvPr id="10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22376" y="5861304"/>
            <a:ext cx="365760" cy="365760"/>
          </a:xfrm>
          <a:prstGeom prst="rect">
            <a:avLst/>
          </a:prstGeom>
        </p:spPr>
      </p:pic>
      <p:sp>
        <p:nvSpPr>
          <p:cNvPr id="11" name="Text 6"/>
          <p:cNvSpPr txBox="1"/>
          <p:nvPr/>
        </p:nvSpPr>
        <p:spPr>
          <a:xfrm>
            <a:off x="1508760" y="5641848"/>
            <a:ext cx="101041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23C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Dnevnik je i odeljak izveštaja</a:t>
            </a:r>
            <a:endParaRPr lang="en-US" sz="1700" dirty="0"/>
          </a:p>
        </p:txBody>
      </p:sp>
      <p:sp>
        <p:nvSpPr>
          <p:cNvPr id="12" name="Text 7"/>
          <p:cNvSpPr txBox="1"/>
          <p:nvPr/>
        </p:nvSpPr>
        <p:spPr>
          <a:xfrm>
            <a:off x="1508760" y="5989320"/>
            <a:ext cx="101041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1B23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Odeljak „Podaci i priprema“ u finalnom izveštaju je skraćena verzija dnevnika. Piše se usput, ne na kraju.</a:t>
            </a:r>
            <a:endParaRPr lang="en-US" sz="14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123C3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1463040"/>
            <a:ext cx="100584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Sledeći korak: Modul 2</a:t>
            </a:r>
            <a:endParaRPr lang="en-US" sz="38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2743200"/>
            <a:ext cx="9601200" cy="2743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>
              <a:spcAft>
                <a:spcPts val="1000"/>
              </a:spcAft>
              <a:buSzPct val="100000"/>
              <a:buChar char="•"/>
            </a:pPr>
            <a:r>
              <a:rPr lang="en-US" sz="1800" dirty="0">
                <a:solidFill>
                  <a:srgbClr val="DCE7E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Otvori moduli/modul2.html — osam zadataka u tačno ovom redosledu</a:t>
            </a:r>
            <a:endParaRPr lang="en-US" sz="1800" dirty="0"/>
          </a:p>
          <a:p>
            <a:pPr marL="177800" indent="-177800">
              <a:spcAft>
                <a:spcPts val="1000"/>
              </a:spcAft>
              <a:buSzPct val="100000"/>
              <a:buChar char="•"/>
            </a:pPr>
            <a:r>
              <a:rPr lang="en-US" sz="1800" dirty="0">
                <a:solidFill>
                  <a:srgbClr val="DCE7E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Radi na kopiji: c = df.copy(). Sirovi fajl se ne dira.</a:t>
            </a:r>
            <a:endParaRPr lang="en-US" sz="1800" dirty="0"/>
          </a:p>
          <a:p>
            <a:pPr marL="177800" indent="-177800">
              <a:spcAft>
                <a:spcPts val="1000"/>
              </a:spcAft>
              <a:buSzPct val="100000"/>
              <a:buChar char="•"/>
            </a:pPr>
            <a:r>
              <a:rPr lang="en-US" sz="1800" dirty="0">
                <a:solidFill>
                  <a:srgbClr val="DCE7E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Svaka odluka → dnevnik_ciscenja.md: nalaz, akcija, obrazloženje</a:t>
            </a:r>
            <a:endParaRPr lang="en-US" sz="1800" dirty="0"/>
          </a:p>
          <a:p>
            <a:pPr marL="177800" indent="-177800">
              <a:spcAft>
                <a:spcPts val="1000"/>
              </a:spcAft>
              <a:buSzPct val="100000"/>
              <a:buChar char="•"/>
            </a:pPr>
            <a:r>
              <a:rPr lang="en-US" sz="1800" dirty="0">
                <a:solidFill>
                  <a:srgbClr val="DCE7E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Cilj: korisnici_clean.csv sa 1.200 vrsta i 0 izgubljenih ispravnih vrednosti</a:t>
            </a:r>
            <a:endParaRPr lang="en-US" sz="1800" dirty="0"/>
          </a:p>
          <a:p>
            <a:pPr marL="177800" indent="-177800">
              <a:spcAft>
                <a:spcPts val="1000"/>
              </a:spcAft>
              <a:buSzPct val="100000"/>
              <a:buChar char="•"/>
            </a:pPr>
            <a:r>
              <a:rPr lang="en-US" sz="1800" dirty="0">
                <a:solidFill>
                  <a:srgbClr val="DCE7E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Kontrolna tačka 2 šestog dana — mentor proverava CSV protiv referentnog ključa</a:t>
            </a:r>
            <a:endParaRPr lang="en-US" sz="1800" dirty="0"/>
          </a:p>
        </p:txBody>
      </p:sp>
      <p:sp>
        <p:nvSpPr>
          <p:cNvPr id="4" name="Shape 2"/>
          <p:cNvSpPr/>
          <p:nvPr/>
        </p:nvSpPr>
        <p:spPr>
          <a:xfrm>
            <a:off x="10241280" y="4937760"/>
            <a:ext cx="1280160" cy="1280160"/>
          </a:xfrm>
          <a:prstGeom prst="ellipse">
            <a:avLst/>
          </a:prstGeom>
          <a:solidFill>
            <a:srgbClr val="E8A33D"/>
          </a:solidFill>
          <a:ln/>
        </p:spPr>
      </p:sp>
      <p:sp>
        <p:nvSpPr>
          <p:cNvPr id="5" name="Text 3"/>
          <p:cNvSpPr txBox="1"/>
          <p:nvPr/>
        </p:nvSpPr>
        <p:spPr>
          <a:xfrm>
            <a:off x="548640" y="6035040"/>
            <a:ext cx="10972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8FA9A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P2 · Priprema podataka · Praksa u Data &amp; AI timu</a:t>
            </a:r>
            <a:endParaRPr lang="en-US" sz="12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14</Slides>
  <Notes>14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14</vt:i4>
      </vt:variant>
    </vt:vector>
  </HeadingPairs>
  <TitlesOfParts>
    <vt:vector size="17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P2 — Priprema podataka</dc:title>
  <dc:subject>PptxGenJS Presentation</dc:subject>
  <dc:creator>Data &amp; AI tim</dc:creator>
  <cp:lastModifiedBy>Data &amp; AI tim</cp:lastModifiedBy>
  <cp:revision>1</cp:revision>
  <dcterms:created xsi:type="dcterms:W3CDTF">2026-09-09T08:53:34Z</dcterms:created>
  <dcterms:modified xsi:type="dcterms:W3CDTF">2026-09-09T08:53:34Z</dcterms:modified>
</cp:coreProperties>
</file>
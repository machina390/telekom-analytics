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3C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23C3A"/>
                </a:solidFill>
                <a:latin typeface="Calibri"/>
              </a:rPr>
              <a:t>Spearman ρ sa churn-om (n = 1.200)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ρ sa churn_flag</c:v>
                </c:pt>
              </c:strCache>
            </c:strRef>
          </c:tx>
          <c:spPr>
            <a:solidFill>
              <a:srgbClr val="123C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ocena_zadovoljstva</c:v>
                  </c:pt>
                  <c:pt idx="1">
                    <c:v>staz_meseci</c:v>
                  </c:pt>
                  <c:pt idx="2">
                    <c:v>mesecni_racun_rsd</c:v>
                  </c:pt>
                  <c:pt idx="3">
                    <c:v>godine</c:v>
                  </c:pt>
                  <c:pt idx="4">
                    <c:v>broj_sms</c:v>
                  </c:pt>
                  <c:pt idx="5">
                    <c:v>minuti_poziva</c:v>
                  </c:pt>
                  <c:pt idx="6">
                    <c:v>potrosnja_gb</c:v>
                  </c:pt>
                  <c:pt idx="7">
                    <c:v>broj_reklamacija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-0.31</c:v>
                </c:pt>
                <c:pt idx="1">
                  <c:v>-0.14</c:v>
                </c:pt>
                <c:pt idx="2">
                  <c:v>-0.1</c:v>
                </c:pt>
                <c:pt idx="3">
                  <c:v>-0.02</c:v>
                </c:pt>
                <c:pt idx="4">
                  <c:v>-0.02</c:v>
                </c:pt>
                <c:pt idx="5">
                  <c:v>-0.01</c:v>
                </c:pt>
                <c:pt idx="6">
                  <c:v>0</c:v>
                </c:pt>
                <c:pt idx="7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-0.4"/>
        </c:scaling>
        <c:delete val="0"/>
        <c:axPos val="b"/>
        <c:majorGridlines>
          <c:spPr>
            <a:ln w="6350" cap="flat">
              <a:solidFill>
                <a:srgbClr val="E3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Stopa churn-a (%)</c:v>
                </c:pt>
              </c:strCache>
            </c:strRef>
          </c:tx>
          <c:spPr>
            <a:solidFill>
              <a:srgbClr val="123C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Postpaid (n = 573)</c:v>
                  </c:pt>
                  <c:pt idx="1">
                    <c:v>Biznis (n = 177)</c:v>
                  </c:pt>
                  <c:pt idx="2">
                    <c:v>Prepaid (n = 450)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16.9</c:v>
                </c:pt>
                <c:pt idx="1">
                  <c:v>20.9</c:v>
                </c:pt>
                <c:pt idx="2">
                  <c:v>29.6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3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C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C3A"/>
                </a:solidFill>
                <a:latin typeface="Calibri"/>
              </a:rPr>
              <a:t>Po grupi staža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Stopa churn-a (%)</c:v>
                </c:pt>
              </c:strCache>
            </c:strRef>
          </c:tx>
          <c:spPr>
            <a:solidFill>
              <a:srgbClr val="7FA9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 1 god (n = 263)</c:v>
                  </c:pt>
                  <c:pt idx="1">
                    <c:v>1–3 god (n = 452)</c:v>
                  </c:pt>
                  <c:pt idx="2">
                    <c:v>3–6 god (n = 280)</c:v>
                  </c:pt>
                  <c:pt idx="3">
                    <c:v>6+ god (n = 205)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32.7</c:v>
                </c:pt>
                <c:pt idx="1">
                  <c:v>20.6</c:v>
                </c:pt>
                <c:pt idx="2">
                  <c:v>22.9</c:v>
                </c:pt>
                <c:pt idx="3">
                  <c:v>11.7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3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C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C3A"/>
                </a:solidFill>
                <a:latin typeface="Calibri"/>
              </a:rPr>
              <a:t>Po oceni zadovoljstva (1 = najlošije)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Stopa churn-a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(n = 34)</c:v>
                  </c:pt>
                  <c:pt idx="1">
                    <c:v>2 (n = 101)</c:v>
                  </c:pt>
                  <c:pt idx="2">
                    <c:v>3 (n = 296)</c:v>
                  </c:pt>
                  <c:pt idx="3">
                    <c:v>4 (n = 421)</c:v>
                  </c:pt>
                  <c:pt idx="4">
                    <c:v>5 (n = 252)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64.7</c:v>
                </c:pt>
                <c:pt idx="1">
                  <c:v>53.5</c:v>
                </c:pt>
                <c:pt idx="2">
                  <c:v>28.4</c:v>
                </c:pt>
                <c:pt idx="3">
                  <c:v>12.4</c:v>
                </c:pt>
                <c:pt idx="4">
                  <c:v>11.7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3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Prezentacija 3 od 3  |  pre Modula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052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i izveštavanje: od čistih podataka do odluke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odlazi i zašto — izraženo brojkama koje direktor sektora razume za pet minuta.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0" y="82296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nije crtanje grafikona — to je odgovaranje na pitanje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korak sužava: pitanje → hipoteze → dokaz → nalaz → preporuka.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087209" cy="2468880"/>
          </a:xfrm>
          <a:prstGeom prst="roundRect">
            <a:avLst>
              <a:gd name="adj" fmla="val 438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423160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Pitanje menadžmenta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971800"/>
            <a:ext cx="1758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 nam odlazi i zašto?“ — širok, ali jasan poslovni cilj.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0441" y="1783080"/>
            <a:ext cx="2087209" cy="2468880"/>
          </a:xfrm>
          <a:prstGeom prst="roundRect">
            <a:avLst>
              <a:gd name="adj" fmla="val 4381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5033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928457" y="2423160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Analitička pitanja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65033" y="2971800"/>
            <a:ext cx="1758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churn zavisi od paketa? Od staža? Od reklamacija? Od zadovoljstva?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52243" y="1783080"/>
            <a:ext cx="2087209" cy="2468880"/>
          </a:xfrm>
          <a:prstGeom prst="roundRect">
            <a:avLst>
              <a:gd name="adj" fmla="val 438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6835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180259" y="2423160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Dokaz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6835" y="2971800"/>
            <a:ext cx="1758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Segmentacija, korelacije, testovi hipoteza — sa brojem korisnika u svakoj grupi.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04044" y="1783080"/>
            <a:ext cx="2087209" cy="2468880"/>
          </a:xfrm>
          <a:prstGeom prst="roundRect">
            <a:avLst>
              <a:gd name="adj" fmla="val 4381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8636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432060" y="2423160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68636" y="2971800"/>
            <a:ext cx="1758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„Prepaid korisnici u prvoj godini odlaze 3× češće od postpaid sa 6+ godina.“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55846" y="1783080"/>
            <a:ext cx="2087209" cy="2468880"/>
          </a:xfrm>
          <a:prstGeom prst="roundRect">
            <a:avLst>
              <a:gd name="adj" fmla="val 438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2043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683862" y="2423160"/>
            <a:ext cx="18311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Preporuka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20438" y="2971800"/>
            <a:ext cx="17580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„Program zadržavanja ciljati na prepaid korisnike u mesecima 6–12.“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54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7548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za svaki grafikon i svaku tabelu: na koje analitičko pitanje odgovara? Ako ne odgovara ni na jedno — ide u prilog ili u koš.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Univarijatna analiza: jedna kolona, pravi grafikon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2110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Numerička, neprekidna. Pokazuje oblik: simetrija, repovi, više vrhova.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 ucrtaj sredinu i medijanu — razmak između njih je poruka.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korpi (bins) menja sliku: probaj 20 i 50.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90824" y="164592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9424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96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9424" y="251460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19424" y="2926080"/>
            <a:ext cx="2110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Numerička. Kompaktan: medijana, IQR, brkovi, outlieri.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za poređenje grupa jednu pored druge (račun po paketu).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Skriva bimodalnost — zato uz histogram, ne umesto.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164592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61608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80" y="19933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61608" y="251460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61608" y="2926080"/>
            <a:ext cx="2110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Kategorijska. Frekvencije ili udeli.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Sortiraj po vrednosti (osim ordinalnih — one po redosledu).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Horizontalni kad su oznake dugačke („Šumadija i Zapadna Srbija“).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75191" y="1645920"/>
            <a:ext cx="2567864" cy="3200400"/>
          </a:xfrm>
          <a:prstGeom prst="roundRect">
            <a:avLst>
              <a:gd name="adj" fmla="val 427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03791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663" y="19933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03791" y="251460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 — ne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303791" y="2926080"/>
            <a:ext cx="2110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 slabo poredi uglove. Tri kategorije još i prođu; pet — ne.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Zamena: horizontalni bar chart sa udelima.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Izuzetak: jedan udeo naspram ostatka (22% churn / 78%).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120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 posle čišćenja, za orijentaciju: račun — medijana 2.382, asimetrija 1,17 · GB — medijana 6,4, asimetrija 2,31 · staž — medijana 29 meseci · churn 22,2%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Bivarijatna analiza: tip para odlučuje metod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377440"/>
                <a:gridCol w="237744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Grafikon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 / tabela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Naš primer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numerička × numerička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(uzorak od 400 tačaka)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korelacija (Pearson / Spearman)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značajnosti korelacije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 × potrosnja_gb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kategorijska × numerička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boxplot po grupi, overlapping histogrami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/ sredina po grupi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t-test, Mann–Whitney, ANOVA, Kruskal–Wallis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× staz_meseci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kategorijska × kategorijska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grupisani ili složeni bar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crosstab, udeli po redu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hi-kvadrat test nezavisnosti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tip_paketa ×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binarna ciljna × bilo šta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stopa po grupi (bar), churn po korpi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groupby(...)["churn_flag"].mean()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hi-kvadrat / logistička regresija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sve × churn_flag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Uvek prikaži n uz stopu. 33% na 12 korisnika i 17% na 573 korisnika nisu uporedivi brojevi.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sa observed=True za kategorije — inače pandas dodaje prazne kombinacije.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scatter-a sa 1.200 tačaka: uzorak ili alpha=0.4; obojiti po churn-u da se vidi treća dimenzija.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Korelacija: Pearson meri pravu liniju, Spearman meri redosled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Šta meri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linearnu vezu vrednosti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monotonu vezu rangova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Pretpostavke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približna normalnost, bez outliera, linearna veza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nikakve o obliku; radi i za ordinalne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Osetljivost na outliere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velika — jedna tačka menja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simetrične numeričke kolone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asimetrične kolone, ordinalne, sumnja na outliere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Naš izbor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ρ: račun, GB i staž su asimetrični; ocena je ordinalna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132320" y="14630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1206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Korelacija nije uzročnost. Reklamacije (+0,30) i churn idu zajedno — ali možda oboje uzrokuje loša mreža u jednom regionu. Udžbenički „slaba“ korelacija od 0,3 je u churn analitici jak signal: ponašanje ljudi retko daje 0,8.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Segmentacija: churn po tipu paketa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Ukupna stopa 22,2% — ali prosek skriva tri različite priče.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73736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1911096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9244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Prepaid: 29,6%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0391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Skoro dvostruko od postpaid. Nema ugovorne obaveze, laka promena operatera.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132320" y="278892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96265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244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Biznis: 20,9%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30906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Iznenađenje za mnoge — biznis korisnici plaćaju najviše (medijana 5.887 RSD) i nisu lojalniji od proseka.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132320" y="384048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401421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92440" y="3794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Postpaid: 16,9%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8092440" y="414223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Ugovor vezuje. Ali 97 od 573 je i dalje mnogo — ko su oni? Sledeći slajd.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132320" y="489204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5065776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0" y="4846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χ² = 23,4, p &lt; 0,001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8092440" y="519379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Razlika nije slučajna. Veličina efekta: 12,7 procentnih poena između prepaid i postpaid.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Segmentacija: churn po stažu i po zadovoljstvu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544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godina je kritična: 32,7% naspram 11,7% posle šest godina. Grupe 1–3 i 3–6 su slične — staž nije linearan efekat, nego prag.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1–2: 59% odlazi. Ocena 4–5: 12%. Anketa predviđa churn bolje od bilo koje transakcione kolone — a 96 korisnika je nije popunilo. Ko su oni?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grafikona imaju n u oznakama. Ocena 1 sa 34 korisnika: širok interval poverenja — 64,7% ± 16 p.p.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Testiranje hipoteza: šta p-vrednost jeste, a šta nije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i H₁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nema razlike (staž korisnika koji odlaze = staž onih koji ostaju).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postoji razlika (jednostrana: kraći je).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računa koliko je verovatno da vidimo ovoliku razliku u uzorku ako je H₀ tačna.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64592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8745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p-vrednost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28600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Verovatnoća ovakvog (ili ekstremnijeg) rezultata pod H₀.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0,000001 NE znači „verovatnoća da je H₀ tačna je 0,0001%“.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meri veličinu efekta. Sa n = 100.000 i razlika od 1 dinar postaje „značajna“.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7797" y="1645920"/>
            <a:ext cx="3515258" cy="2926080"/>
          </a:xfrm>
          <a:prstGeom prst="roundRect">
            <a:avLst>
              <a:gd name="adj" fmla="val 3750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18745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α i greške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28600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0,05 je konvencija, ne prirodni zakon. Kod 20 testova jedan „prođe“ slučajno.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Greška I: odbaciš tačnu H₀ (lažni alarm).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Greška II: ne odbaciš pogrešnu H₀ (propušten efekat) — zavisi od n i snage.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8463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izveštaj: veličina efekta u naslov („korisnici koji odlaze imaju 10 meseci kraći staž: medijana 21 vs 31“), p-vrednost u fusnotu (Mann–Whitney, p &lt; 0,001).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Koji test kada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proveri normalnost (Shapiro–Wilk ili Q-Q plot) — naš račun: W = 0,90, p &lt; 0,001 → nije normalan.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926080"/>
                <a:gridCol w="33832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Pitanje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Parametarski (normalnost)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Neparametarski (bez pretpostavki)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Naša hipoteza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grupe, numerička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 za nezavisne uzorke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Mann–Whitney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H2: staž (churn Da) &lt; staž (churn Ne): medijane 21 vs 31, p &lt; 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Tri+ grupe, numerička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Kruskal–Wallis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račun po tipu paketa (trivijalno različit)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kategorijske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hi-kvadrat test nezavisnosti (Fisher za male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churn × tip_paketa: χ² = 23,4, df = 2, p &lt; 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Brojanje događaja u dve grupe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 (loše — Poisson)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Mann–Whitney 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H3: reklamacije (Da) &gt; (Ne): 1,41 vs 0,56, p &lt; 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Veza dve numeričke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 + 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 × churn: ρ = −0,31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/ posle, isti korisnici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upareni t-test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Wilcoxon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(nema u ovom datasetu)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5321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scipy.stats: ttest_ind, mannwhitneyu, f_oneway, kruskal, chi2_contingency, fisher_exact, shapiro, spearmanr. Uvek zapiši alternative= (two-sided / less / greater) — to je deo hipoteze.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Veličina efekta je ono što menadžment kupuje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u prvoj godini staža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22244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posle 6+ godina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2,8×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odnos — to je naslov nalaza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451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6B7C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&lt;0,001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869451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p-vrednost: fusnota, ne naslov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6675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 efekta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 šta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tumačenje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Razlika u procentnim poenima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stope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32,7 − 11,7 = 21 p.p. — najrazumljivija za menadžment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Relativni rizik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stope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 / 11,7 = 2,8× — pazi: 2× od 0,1% je i dalje 0,2%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Cohenov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sredine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(x̄₁ − x̄₂) / s_pooled; 0,2 mali, 0,5 srednji, 0,8 veliki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Cramérov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hi-kvadrat tabele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√(χ² / (n · (k − 1))); 0,14 za tip_paketa × churn — mali do srednji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 poverenja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svaka procena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za stopu 64,7% na n = 34: [48%, 79%] — širina je poruka o pouzdanosti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Grafikon za izveštaj: pravila koja se ne krše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Naslov je rečenica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„Grafikon 3: churn po paketu“ nego „Prepaid korisnici odlaze skoro dvostruko češće od postpaid“. Naslov nosi nalaz; grafikon ga dokazuje.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2978" y="1645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1578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450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1578" y="2514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 sa jedinicama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51578" y="2926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„Stopa churn-a (%)“, „Mesečni račun (RSD)“. Osa vrednosti bar charta počinje od nule. Nikad dve y-ose ako može da se izbegne.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645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5917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789" y="19933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5917" y="2514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u oznakama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2926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„Prepaid (n = 450)“. Čitalac odmah zna kojoj grupi sme da veruje. Za male grupe — interval poverenja ili napomena.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793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00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poruka po grafikonu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ti treba pasus da ga objasniš, podeli ga na dva. Boja nosi značenje (churn = uvek ista boja kroz ceo izveštaj), ne dekoraciju.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2978" y="3931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1578" y="4160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450" y="427939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1578" y="4800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Čitljivo kad se odštampa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51578" y="5212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na 130+ dpi, font 10+ pt, bez sivog na sivom. Proveri i crno-belo — 8% muškaraca ne razlikuje crvenu i zelenu.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97317" y="3931920"/>
            <a:ext cx="3545738" cy="2057400"/>
          </a:xfrm>
          <a:prstGeom prst="roundRect">
            <a:avLst>
              <a:gd name="adj" fmla="val 5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5917" y="4160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4789" y="427939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5917" y="48006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 je više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25917" y="521208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mreže u pozadini ako ne treba, bez 3D, bez senki, bez okvira legende. seaborn whitegrid + despine() je sasvim dovoljno.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 izveštaja: 3–5 strana koje direktor pročita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strane. 3–5 nalaza u brojkama + 1 preporuka. Piše se poslednje, čita prvo.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5141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9733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553157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i priprema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89733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smo dobili, tabela klasa grešaka, šta smo uradili. Pre/posle mere.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1642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6234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429658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Deskriptivna statistika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66234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Ključne mere, zašto medijana, jedan histogram.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8144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2736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06160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42736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Segmentacija, korelacije, tri hipoteze. Grafikon + dve rečenice svaki.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4645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9237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182661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Preporuke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19237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tim za zadržavanje može da uradi sutra. Konkretno, merljivo.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31146" y="1645920"/>
            <a:ext cx="1711909" cy="2651760"/>
          </a:xfrm>
          <a:prstGeom prst="roundRect">
            <a:avLst>
              <a:gd name="adj" fmla="val 5341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9573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10059162" y="2286000"/>
            <a:ext cx="1455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95738" y="2834640"/>
            <a:ext cx="138272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Korelacija ≠ uzrok. 96 nepoznatih ocena. Samo 12 meseci. Nema podataka o konkurenciji.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4745736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45262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čitaoca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1508760" y="487375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bi rečenicu razumeo neko ko ne zna šta je IQR? Ako ne — prepravi ili premesti u prilog. Prilog: notebook, dnevnik, sve tabele.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544068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5614416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508760" y="539496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Prezentacija: 8 slajdova, 10 minuta</a:t>
            </a:r>
            <a:endParaRPr lang="en-US" sz="1700" dirty="0"/>
          </a:p>
        </p:txBody>
      </p:sp>
      <p:sp>
        <p:nvSpPr>
          <p:cNvPr id="35" name="Text 31"/>
          <p:cNvSpPr txBox="1"/>
          <p:nvPr/>
        </p:nvSpPr>
        <p:spPr>
          <a:xfrm>
            <a:off x="1508760" y="574243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kontekst · 1 podaci · 4 nalaza (po jedan grafikon) · 1 preporuka · 1 ograničenja. Zatim 10 minuta pitanja — mentor pita kao direktor.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Kako se ocenjuje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Prag: 70 od 100. Bonus 5: klasa greške koja nije pomenuta ni u jednom modulu.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7589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Kriterijum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Bodovi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Šta donosi pune bodove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Profilisanje i mere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Ručne mere tačne; sve mere ispravno primenjene; asimetrija i uticaj ekstrema prepoznati i objašnjeni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Kvalitet čišćenja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Svih 8 klasa pronađeno; 0 ispravnih vrednosti izgubljeno; odluke obrazložene u dnevniku; Restart &amp; Run All prolazi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 i interpretacija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Segmentacija sa n; Spearman obrazložen; tri hipoteze sa pravim testom, veličinom efekta i tumačenjem za menadžment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Vizuelizacije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Naslov-rečenica, ose sa jedinicama, n u oznakama, jedna poruka po grafikonu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Izveštaj i prezentacija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Rezime na pola strane; nalazi u brojkama; preporuke izvodljive; ograničenja iskrena; 10 minuta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Sledeći korak: Modul 3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 moduli/modul3.html — šest zadataka nad korisnici_clean.csv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Univarijatna → segmentacija → korelacije → tri hipoteze → grafikoni → izveštaj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nalaz: broj, poređenje i rečenica bez žargona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Deseti dan: 10 minuta prezentacije, 10 minuta pitanja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241280" y="4937760"/>
            <a:ext cx="1280160" cy="1280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Eksplorativna analiza i izveštavanje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— Eksplorativna analiza i izveštavanje</dc:title>
  <dc:subject>PptxGenJS Presentation</dc:subject>
  <dc:creator>Data &amp; AI tim</dc:creator>
  <cp:lastModifiedBy>Data &amp; AI tim</cp:lastModifiedBy>
  <cp:revision>1</cp:revision>
  <dcterms:created xsi:type="dcterms:W3CDTF">2026-09-09T08:53:34Z</dcterms:created>
  <dcterms:modified xsi:type="dcterms:W3CDTF">2026-09-09T08:53:34Z</dcterms:modified>
</cp:coreProperties>
</file>